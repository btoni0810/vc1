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03" r:id="rId2"/>
    <p:sldId id="402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2" y="8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A70F2-FFB1-4A77-8169-B4B3A96EA7FA}" type="datetimeFigureOut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22045-D558-4E33-BE68-5816A24675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863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74DAA-8521-401A-B442-5F827CEBB63B}" type="datetimeFigureOut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6A725-A372-460E-884A-4864481A9E4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3203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2EBB-BC46-4219-8E99-314F36A94901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5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C0F3-B846-4290-B9C4-8F115EE2B84D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88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D761B-6585-4B1B-A2B9-4CDB597A6ECA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90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79E8-9818-4963-B672-E7E501E3FB3A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6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491D-FC62-475C-9CF3-02865DEF5AF5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85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CF08-AE98-4F76-9E5C-9F20DE2A111C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7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1F89E-FF1C-46AC-B04C-B6464287433B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92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6E8-63C8-4ADC-88CB-84562CB67E64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56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44BA-7BE3-4C66-8864-489905E8021E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03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A1F0-130F-4C1B-8346-D0167DF99193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99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524E-FE32-451E-A5A3-4235D58504EB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52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B7FED-B7B7-4EA8-97CF-7E7FEFD7FC74}" type="datetime1">
              <a:rPr lang="zh-TW" altLang="en-US" smtClean="0"/>
              <a:pPr/>
              <a:t>2025/6/24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1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655" y="1"/>
            <a:ext cx="4666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B0F0"/>
                </a:solidFill>
              </a:rPr>
              <a:t>Nguyên tắc xác nhận cực tính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999" y="613244"/>
            <a:ext cx="3317527" cy="219001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0000"/>
                </a:solidFill>
              </a:rPr>
              <a:t>Cực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tính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là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gì</a:t>
            </a:r>
            <a:r>
              <a:rPr lang="en-US" sz="1600" dirty="0">
                <a:solidFill>
                  <a:srgbClr val="FF0000"/>
                </a:solidFill>
              </a:rPr>
              <a:t>?</a:t>
            </a:r>
          </a:p>
          <a:p>
            <a:pPr algn="ctr"/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vị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/>
              <a:t>dùng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chiều</a:t>
            </a:r>
            <a:r>
              <a:rPr lang="en-US" sz="1600" dirty="0"/>
              <a:t> </a:t>
            </a:r>
            <a:r>
              <a:rPr lang="en-US" sz="1600" dirty="0" err="1"/>
              <a:t>hướng</a:t>
            </a:r>
            <a:r>
              <a:rPr lang="en-US" sz="1600" dirty="0"/>
              <a:t> </a:t>
            </a:r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sắp</a:t>
            </a:r>
            <a:r>
              <a:rPr lang="en-US" sz="1600" dirty="0"/>
              <a:t> </a:t>
            </a:r>
            <a:r>
              <a:rPr lang="en-US" sz="1600" dirty="0" err="1"/>
              <a:t>xếp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kiên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mạch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 err="1"/>
              <a:t>Nếu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ngược</a:t>
            </a:r>
            <a:r>
              <a:rPr lang="en-US" sz="1600" dirty="0"/>
              <a:t> </a:t>
            </a:r>
            <a:r>
              <a:rPr lang="en-US" sz="1600" dirty="0" err="1"/>
              <a:t>chiều</a:t>
            </a:r>
            <a:r>
              <a:rPr lang="en-US" sz="1600" dirty="0"/>
              <a:t> </a:t>
            </a:r>
            <a:r>
              <a:rPr lang="en-US" sz="1600" dirty="0" err="1"/>
              <a:t>quy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mạch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dẫn</a:t>
            </a:r>
            <a:r>
              <a:rPr lang="en-US" sz="1600" dirty="0"/>
              <a:t> </a:t>
            </a:r>
            <a:r>
              <a:rPr lang="en-US" sz="1600" dirty="0" err="1"/>
              <a:t>đến</a:t>
            </a:r>
            <a:r>
              <a:rPr lang="en-US" sz="1600" dirty="0"/>
              <a:t> </a:t>
            </a:r>
            <a:r>
              <a:rPr lang="en-US" sz="1600" dirty="0" err="1"/>
              <a:t>cháy</a:t>
            </a:r>
            <a:r>
              <a:rPr lang="en-US" sz="1600" dirty="0"/>
              <a:t> </a:t>
            </a:r>
            <a:r>
              <a:rPr lang="en-US" sz="1600" dirty="0" err="1"/>
              <a:t>nổ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752375" y="501855"/>
            <a:ext cx="682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1. </a:t>
            </a:r>
            <a:r>
              <a:rPr lang="en-US" dirty="0" err="1">
                <a:highlight>
                  <a:srgbClr val="FFFF00"/>
                </a:highlight>
              </a:rPr>
              <a:t>Dựa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theo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dấu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chấm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trên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thân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linh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kiện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trùng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với</a:t>
            </a:r>
            <a:r>
              <a:rPr lang="en-US" dirty="0">
                <a:highlight>
                  <a:srgbClr val="FFFF00"/>
                </a:highlight>
              </a:rPr>
              <a:t> PCB: (</a:t>
            </a:r>
            <a:r>
              <a:rPr lang="en-US" dirty="0" err="1">
                <a:highlight>
                  <a:srgbClr val="FFFF00"/>
                </a:highlight>
              </a:rPr>
              <a:t>dấu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chấm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tròn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dấu</a:t>
            </a:r>
            <a:r>
              <a:rPr lang="en-US" dirty="0">
                <a:highlight>
                  <a:srgbClr val="FFFF00"/>
                </a:highlight>
              </a:rPr>
              <a:t> +, </a:t>
            </a:r>
            <a:r>
              <a:rPr lang="en-US" err="1">
                <a:highlight>
                  <a:srgbClr val="FFFF00"/>
                </a:highlight>
              </a:rPr>
              <a:t>dấu</a:t>
            </a:r>
            <a:r>
              <a:rPr lang="en-US">
                <a:highlight>
                  <a:srgbClr val="FFFF00"/>
                </a:highlight>
              </a:rPr>
              <a:t> </a:t>
            </a:r>
            <a:r>
              <a:rPr lang="en-US" smtClean="0">
                <a:highlight>
                  <a:srgbClr val="FFFF00"/>
                </a:highlight>
              </a:rPr>
              <a:t>lõm,</a:t>
            </a:r>
            <a:r>
              <a:rPr lang="vi-VN" smtClean="0">
                <a:highlight>
                  <a:srgbClr val="FFFF00"/>
                </a:highlight>
              </a:rPr>
              <a:t>dấu chữ v,</a:t>
            </a:r>
            <a:r>
              <a:rPr lang="en-US" smtClean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vát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err="1">
                <a:highlight>
                  <a:srgbClr val="FFFF00"/>
                </a:highlight>
              </a:rPr>
              <a:t>góc</a:t>
            </a:r>
            <a:r>
              <a:rPr lang="en-US" smtClean="0">
                <a:highlight>
                  <a:srgbClr val="FFFF00"/>
                </a:highlight>
              </a:rPr>
              <a:t>,…</a:t>
            </a:r>
            <a:r>
              <a:rPr lang="vi-VN" smtClean="0">
                <a:highlight>
                  <a:srgbClr val="FFFF00"/>
                </a:highlight>
              </a:rPr>
              <a:t> 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F0882-46B6-477F-9058-A54E89A9A6D6}"/>
              </a:ext>
            </a:extLst>
          </p:cNvPr>
          <p:cNvSpPr txBox="1"/>
          <p:nvPr/>
        </p:nvSpPr>
        <p:spPr>
          <a:xfrm>
            <a:off x="164007" y="3555828"/>
            <a:ext cx="1168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2</a:t>
            </a:r>
            <a:r>
              <a:rPr lang="en-US" sz="1600" dirty="0">
                <a:highlight>
                  <a:srgbClr val="FFFF00"/>
                </a:highlight>
              </a:rPr>
              <a:t>. </a:t>
            </a:r>
            <a:r>
              <a:rPr lang="en-US" sz="1600" dirty="0" err="1">
                <a:highlight>
                  <a:srgbClr val="FFFF00"/>
                </a:highlight>
              </a:rPr>
              <a:t>Một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số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linh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kiện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như</a:t>
            </a:r>
            <a:r>
              <a:rPr lang="en-US" sz="1600" dirty="0">
                <a:highlight>
                  <a:srgbClr val="FFFF00"/>
                </a:highlight>
              </a:rPr>
              <a:t> LED, diode </a:t>
            </a:r>
            <a:r>
              <a:rPr lang="en-US" sz="1600" dirty="0" err="1">
                <a:highlight>
                  <a:srgbClr val="FFFF00"/>
                </a:highlight>
              </a:rPr>
              <a:t>không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xác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định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được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cực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tính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cần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phải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sử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dụng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đồng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hồ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vạn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năng</a:t>
            </a:r>
            <a:r>
              <a:rPr lang="en-US" sz="1600" dirty="0">
                <a:highlight>
                  <a:srgbClr val="FFFF00"/>
                </a:highlight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02C700-85F2-4583-BBFD-C69F9A1A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536" y="5117752"/>
            <a:ext cx="1436656" cy="10827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5EAA87-C6AE-47F2-9763-89A3EE10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36" y="3933672"/>
            <a:ext cx="1430474" cy="10643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5F8E8B-DC7F-4838-8D86-31973C00D7E4}"/>
              </a:ext>
            </a:extLst>
          </p:cNvPr>
          <p:cNvSpPr txBox="1"/>
          <p:nvPr/>
        </p:nvSpPr>
        <p:spPr>
          <a:xfrm>
            <a:off x="201239" y="6094476"/>
            <a:ext cx="3780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LED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sáng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xoay</a:t>
            </a:r>
            <a:r>
              <a:rPr lang="en-US" sz="1600" dirty="0"/>
              <a:t> </a:t>
            </a:r>
            <a:r>
              <a:rPr lang="en-US" sz="1600" dirty="0" err="1"/>
              <a:t>lại</a:t>
            </a:r>
            <a:r>
              <a:rPr lang="en-US" sz="1600" dirty="0"/>
              <a:t> </a:t>
            </a:r>
            <a:r>
              <a:rPr lang="en-US" sz="1600" dirty="0" err="1"/>
              <a:t>hướng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F1D5F6-91FD-4098-95FF-F943481D5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744" y="5344134"/>
            <a:ext cx="1756590" cy="10142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5AE83C-C24F-4226-8934-667B5737F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213" y="5393370"/>
            <a:ext cx="1756590" cy="10142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C4CF45-285C-4B16-9C5B-02E67FF5A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153" y="5369540"/>
            <a:ext cx="1756591" cy="10500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7F02A7-2D39-43F1-BDD7-6A9C965021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92" y="5369540"/>
            <a:ext cx="1485869" cy="10500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D141D2-525D-4C1D-ABC5-AA7A7EE03D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5185" y="1160616"/>
            <a:ext cx="1514328" cy="10798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F3C0D7-4880-42E7-A985-BED134F198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965" y="1160168"/>
            <a:ext cx="1515183" cy="10644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3FDE9F-5E8C-4315-AB57-4520C72970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7532" y="2390895"/>
            <a:ext cx="1820164" cy="11745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DA726E-B6EA-42B9-8A2C-DF26C522A8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5918" y="2332747"/>
            <a:ext cx="1527363" cy="12101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16C6BC-102C-4682-A72D-2F6865D783FC}"/>
              </a:ext>
            </a:extLst>
          </p:cNvPr>
          <p:cNvSpPr txBox="1"/>
          <p:nvPr/>
        </p:nvSpPr>
        <p:spPr>
          <a:xfrm>
            <a:off x="8846654" y="3568292"/>
            <a:ext cx="2368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00FF00"/>
                </a:highlight>
              </a:rPr>
              <a:t>Hình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ảnh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cực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tính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đúng</a:t>
            </a:r>
            <a:endParaRPr lang="en-US" dirty="0">
              <a:highlight>
                <a:srgbClr val="00FF00"/>
              </a:highlight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61C8443-EAED-41B1-9C2E-FF4F23B6B3B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35871" r="36662"/>
          <a:stretch/>
        </p:blipFill>
        <p:spPr>
          <a:xfrm>
            <a:off x="164007" y="4344501"/>
            <a:ext cx="1234169" cy="140381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9270338-41F1-457F-85E9-17F9EF62D4AE}"/>
              </a:ext>
            </a:extLst>
          </p:cNvPr>
          <p:cNvSpPr txBox="1"/>
          <p:nvPr/>
        </p:nvSpPr>
        <p:spPr>
          <a:xfrm>
            <a:off x="3934791" y="3897993"/>
            <a:ext cx="76112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 err="1"/>
              <a:t>Điều</a:t>
            </a:r>
            <a:r>
              <a:rPr lang="en-US" sz="1600" dirty="0"/>
              <a:t> </a:t>
            </a:r>
            <a:r>
              <a:rPr lang="en-US" sz="1600" dirty="0" err="1"/>
              <a:t>chỉnh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thang </a:t>
            </a:r>
            <a:r>
              <a:rPr lang="en-US" sz="1600" dirty="0" err="1"/>
              <a:t>đo</a:t>
            </a:r>
            <a:r>
              <a:rPr lang="en-US" sz="1600" dirty="0"/>
              <a:t> diode. Que </a:t>
            </a:r>
            <a:r>
              <a:rPr lang="en-US" sz="1600" dirty="0" err="1"/>
              <a:t>đen</a:t>
            </a:r>
            <a:r>
              <a:rPr lang="en-US" sz="1600" dirty="0"/>
              <a:t> </a:t>
            </a:r>
            <a:r>
              <a:rPr lang="en-US" sz="1600" dirty="0" err="1"/>
              <a:t>cắm</a:t>
            </a:r>
            <a:r>
              <a:rPr lang="en-US" sz="1600" dirty="0"/>
              <a:t> </a:t>
            </a:r>
            <a:r>
              <a:rPr lang="en-US" sz="1600" dirty="0" err="1"/>
              <a:t>cổng</a:t>
            </a:r>
            <a:r>
              <a:rPr lang="en-US" sz="1600" dirty="0"/>
              <a:t> COM </a:t>
            </a:r>
            <a:r>
              <a:rPr lang="en-US" sz="1600" dirty="0" err="1"/>
              <a:t>và</a:t>
            </a:r>
            <a:r>
              <a:rPr lang="en-US" sz="1600" dirty="0"/>
              <a:t> que </a:t>
            </a:r>
            <a:r>
              <a:rPr lang="en-US" sz="1600" dirty="0" err="1"/>
              <a:t>đỏ</a:t>
            </a:r>
            <a:r>
              <a:rPr lang="en-US" sz="1600" dirty="0"/>
              <a:t> </a:t>
            </a:r>
            <a:r>
              <a:rPr lang="en-US" sz="1600" dirty="0" err="1"/>
              <a:t>cắm</a:t>
            </a:r>
            <a:r>
              <a:rPr lang="en-US" sz="1600" dirty="0"/>
              <a:t> </a:t>
            </a:r>
            <a:r>
              <a:rPr lang="en-US" sz="1600" dirty="0" err="1"/>
              <a:t>cổng</a:t>
            </a:r>
            <a:r>
              <a:rPr lang="en-US" sz="1600" dirty="0"/>
              <a:t> V</a:t>
            </a:r>
            <a:r>
              <a:rPr lang="el-GR" sz="1600" dirty="0"/>
              <a:t>Ω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Khi </a:t>
            </a:r>
            <a:r>
              <a:rPr lang="en-US" sz="1600" dirty="0" err="1"/>
              <a:t>đo</a:t>
            </a:r>
            <a:r>
              <a:rPr lang="en-US" sz="1600" dirty="0"/>
              <a:t> LED </a:t>
            </a:r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sáng</a:t>
            </a:r>
            <a:r>
              <a:rPr lang="en-US" sz="1600" dirty="0"/>
              <a:t> </a:t>
            </a:r>
            <a:r>
              <a:rPr lang="en-US" sz="1600" dirty="0" err="1"/>
              <a:t>thì</a:t>
            </a:r>
            <a:r>
              <a:rPr lang="en-US" sz="1600" dirty="0"/>
              <a:t> que </a:t>
            </a:r>
            <a:r>
              <a:rPr lang="en-US" sz="1600" dirty="0" err="1"/>
              <a:t>đen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âm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que </a:t>
            </a:r>
            <a:r>
              <a:rPr lang="en-US" sz="1600" dirty="0" err="1"/>
              <a:t>đỏ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dương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Khi </a:t>
            </a:r>
            <a:r>
              <a:rPr lang="en-US" sz="1600" dirty="0" err="1"/>
              <a:t>đo</a:t>
            </a:r>
            <a:r>
              <a:rPr lang="en-US" sz="1600" dirty="0"/>
              <a:t> </a:t>
            </a:r>
            <a:r>
              <a:rPr lang="en-US" sz="1600" dirty="0" err="1"/>
              <a:t>nếu</a:t>
            </a:r>
            <a:r>
              <a:rPr lang="en-US" sz="1600" dirty="0"/>
              <a:t> LED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sáng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xoay</a:t>
            </a:r>
            <a:r>
              <a:rPr lang="en-US" sz="1600" dirty="0"/>
              <a:t> </a:t>
            </a:r>
            <a:r>
              <a:rPr lang="en-US" sz="1600" dirty="0" err="1"/>
              <a:t>lại</a:t>
            </a:r>
            <a:r>
              <a:rPr lang="en-US" sz="1600" dirty="0"/>
              <a:t> </a:t>
            </a:r>
            <a:r>
              <a:rPr lang="en-US" sz="1600" dirty="0" err="1"/>
              <a:t>hướng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LED </a:t>
            </a:r>
            <a:r>
              <a:rPr lang="en-US" sz="1600" dirty="0" err="1"/>
              <a:t>tiến</a:t>
            </a:r>
            <a:r>
              <a:rPr lang="en-US" sz="1600" dirty="0"/>
              <a:t> </a:t>
            </a:r>
            <a:r>
              <a:rPr lang="en-US" sz="1600" dirty="0" err="1"/>
              <a:t>hành</a:t>
            </a:r>
            <a:r>
              <a:rPr lang="en-US" sz="1600" dirty="0"/>
              <a:t> </a:t>
            </a:r>
            <a:r>
              <a:rPr lang="en-US" sz="1600" dirty="0" err="1"/>
              <a:t>đo</a:t>
            </a:r>
            <a:r>
              <a:rPr lang="en-US" sz="1600" dirty="0"/>
              <a:t> </a:t>
            </a:r>
            <a:r>
              <a:rPr lang="en-US" sz="1600" dirty="0" err="1"/>
              <a:t>tiếp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0000FF"/>
                </a:solidFill>
              </a:rPr>
              <a:t>Khi </a:t>
            </a:r>
            <a:r>
              <a:rPr lang="en-US" sz="1600" dirty="0" err="1">
                <a:solidFill>
                  <a:srgbClr val="0000FF"/>
                </a:solidFill>
              </a:rPr>
              <a:t>xác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định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được</a:t>
            </a:r>
            <a:r>
              <a:rPr lang="en-US" sz="1600" dirty="0">
                <a:solidFill>
                  <a:srgbClr val="0000FF"/>
                </a:solidFill>
              </a:rPr>
              <a:t> 2 </a:t>
            </a:r>
            <a:r>
              <a:rPr lang="en-US" sz="1600" dirty="0" err="1">
                <a:solidFill>
                  <a:srgbClr val="0000FF"/>
                </a:solidFill>
              </a:rPr>
              <a:t>cực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của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linh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kiện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thì</a:t>
            </a:r>
            <a:r>
              <a:rPr lang="en-US" sz="1600" dirty="0">
                <a:solidFill>
                  <a:srgbClr val="0000FF"/>
                </a:solidFill>
              </a:rPr>
              <a:t> ta </a:t>
            </a:r>
            <a:r>
              <a:rPr lang="en-US" sz="1600" dirty="0" err="1">
                <a:solidFill>
                  <a:srgbClr val="0000FF"/>
                </a:solidFill>
              </a:rPr>
              <a:t>xác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định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cực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trên</a:t>
            </a:r>
            <a:r>
              <a:rPr lang="en-US" sz="1600" dirty="0">
                <a:solidFill>
                  <a:srgbClr val="0000FF"/>
                </a:solidFill>
              </a:rPr>
              <a:t> PCB: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Vạch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dọc</a:t>
            </a:r>
            <a:r>
              <a:rPr lang="en-US" sz="1600" dirty="0">
                <a:solidFill>
                  <a:srgbClr val="0000FF"/>
                </a:solidFill>
              </a:rPr>
              <a:t>, </a:t>
            </a:r>
            <a:r>
              <a:rPr lang="en-US" sz="1600" dirty="0" err="1">
                <a:solidFill>
                  <a:srgbClr val="0000FF"/>
                </a:solidFill>
              </a:rPr>
              <a:t>vạch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màu</a:t>
            </a:r>
            <a:r>
              <a:rPr lang="en-US" sz="1600" dirty="0">
                <a:solidFill>
                  <a:srgbClr val="0000FF"/>
                </a:solidFill>
              </a:rPr>
              <a:t>, </a:t>
            </a:r>
            <a:r>
              <a:rPr lang="en-US" sz="1600" dirty="0" err="1">
                <a:solidFill>
                  <a:srgbClr val="0000FF"/>
                </a:solidFill>
              </a:rPr>
              <a:t>chữ</a:t>
            </a:r>
            <a:r>
              <a:rPr lang="en-US" sz="1600" dirty="0">
                <a:solidFill>
                  <a:srgbClr val="0000FF"/>
                </a:solidFill>
              </a:rPr>
              <a:t> K, </a:t>
            </a:r>
            <a:r>
              <a:rPr lang="en-US" sz="1600" dirty="0" err="1">
                <a:solidFill>
                  <a:srgbClr val="0000FF"/>
                </a:solidFill>
              </a:rPr>
              <a:t>khung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vuông</a:t>
            </a:r>
            <a:r>
              <a:rPr lang="en-US" sz="1600" dirty="0">
                <a:solidFill>
                  <a:srgbClr val="0000FF"/>
                </a:solidFill>
              </a:rPr>
              <a:t>,…</a:t>
            </a:r>
            <a:r>
              <a:rPr lang="en-US" sz="1600" dirty="0" err="1">
                <a:solidFill>
                  <a:srgbClr val="0000FF"/>
                </a:solidFill>
              </a:rPr>
              <a:t>là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cực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âm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của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linh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kiện</a:t>
            </a:r>
            <a:r>
              <a:rPr lang="en-US" sz="1600" dirty="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9502" y="1181376"/>
            <a:ext cx="1286408" cy="7870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59502" y="1982471"/>
            <a:ext cx="1286408" cy="2610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 smtClean="0">
                <a:solidFill>
                  <a:srgbClr val="0000FF"/>
                </a:solidFill>
              </a:rPr>
              <a:t>Dấu chấm tròn của linh kiện trên PCB</a:t>
            </a:r>
            <a:endParaRPr lang="en-US" sz="800">
              <a:solidFill>
                <a:srgbClr val="0000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9421" y="1181376"/>
            <a:ext cx="1464947" cy="78703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0" y="1650040"/>
            <a:ext cx="190500" cy="179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759422" y="2001600"/>
            <a:ext cx="1151142" cy="2464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 smtClean="0">
                <a:solidFill>
                  <a:srgbClr val="0000FF"/>
                </a:solidFill>
              </a:rPr>
              <a:t>Vạch màu của linh kiện trên PCB</a:t>
            </a:r>
            <a:endParaRPr lang="en-US" sz="800">
              <a:solidFill>
                <a:srgbClr val="0000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20000" y="1207828"/>
            <a:ext cx="300089" cy="725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81859" y="2001324"/>
            <a:ext cx="987766" cy="23913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553056" y="2017115"/>
            <a:ext cx="1253306" cy="24718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867150" y="3303529"/>
            <a:ext cx="1304925" cy="24031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414187" y="3316689"/>
            <a:ext cx="1177033" cy="23463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00" smtClean="0">
                <a:solidFill>
                  <a:srgbClr val="0000FF"/>
                </a:solidFill>
              </a:rPr>
              <a:t>Vạch ngang trên linh kiện trùng điểm cực tính trên PCB</a:t>
            </a:r>
            <a:endParaRPr lang="en-US" sz="600">
              <a:solidFill>
                <a:srgbClr val="0000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34656" y="3323725"/>
            <a:ext cx="1389712" cy="22845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700" smtClean="0">
                <a:solidFill>
                  <a:srgbClr val="0000FF"/>
                </a:solidFill>
              </a:rPr>
              <a:t>Dấu chữ v trên linh kiện trùng với điểm cực tính trên PCB </a:t>
            </a:r>
            <a:endParaRPr lang="en-US" sz="700">
              <a:solidFill>
                <a:srgbClr val="0000FF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7043492" y="2103243"/>
            <a:ext cx="906457" cy="148176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520402" y="2171845"/>
            <a:ext cx="964605" cy="1286408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735494" y="2647950"/>
            <a:ext cx="141431" cy="310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000875" y="2803257"/>
            <a:ext cx="213380" cy="1928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755839" y="3022470"/>
            <a:ext cx="266064" cy="23210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359499" y="3014223"/>
            <a:ext cx="251173" cy="261987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524875" y="3323724"/>
            <a:ext cx="1465239" cy="22012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5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E4FA8-415D-41DA-BD6B-5127D5DCA526}"/>
              </a:ext>
            </a:extLst>
          </p:cNvPr>
          <p:cNvSpPr txBox="1"/>
          <p:nvPr/>
        </p:nvSpPr>
        <p:spPr>
          <a:xfrm>
            <a:off x="157655" y="1"/>
            <a:ext cx="4666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B0F0"/>
                </a:solidFill>
              </a:rPr>
              <a:t>Nguyên tắc xác nhận cực tính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637CF-944D-492C-A773-8E483A52CE32}"/>
              </a:ext>
            </a:extLst>
          </p:cNvPr>
          <p:cNvSpPr txBox="1"/>
          <p:nvPr/>
        </p:nvSpPr>
        <p:spPr>
          <a:xfrm>
            <a:off x="4926063" y="629044"/>
            <a:ext cx="78571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4.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trường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đặc</a:t>
            </a:r>
            <a:r>
              <a:rPr lang="en-US" sz="1600" dirty="0"/>
              <a:t> </a:t>
            </a:r>
            <a:r>
              <a:rPr lang="en-US" sz="1600" dirty="0" err="1"/>
              <a:t>biệt</a:t>
            </a:r>
            <a:r>
              <a:rPr lang="en-US" sz="1600" dirty="0"/>
              <a:t>: ( </a:t>
            </a:r>
            <a:r>
              <a:rPr lang="en-US" sz="1600" dirty="0" err="1"/>
              <a:t>Nếu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chắc</a:t>
            </a:r>
            <a:r>
              <a:rPr lang="en-US" sz="1600" dirty="0"/>
              <a:t> </a:t>
            </a:r>
            <a:r>
              <a:rPr lang="en-US" sz="1600" dirty="0" err="1"/>
              <a:t>chắn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tra</a:t>
            </a:r>
            <a:r>
              <a:rPr lang="en-US" sz="1600" dirty="0"/>
              <a:t> data sheet)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4 </a:t>
            </a:r>
            <a:r>
              <a:rPr lang="en-US" sz="1600" dirty="0" err="1"/>
              <a:t>dấu</a:t>
            </a:r>
            <a:r>
              <a:rPr lang="en-US" sz="1600" dirty="0"/>
              <a:t> </a:t>
            </a:r>
            <a:r>
              <a:rPr lang="en-US" sz="1600" dirty="0" err="1"/>
              <a:t>chấm</a:t>
            </a:r>
            <a:r>
              <a:rPr lang="en-US" sz="1600" dirty="0"/>
              <a:t> </a:t>
            </a:r>
            <a:r>
              <a:rPr lang="en-US" sz="1600" dirty="0" err="1"/>
              <a:t>thì</a:t>
            </a:r>
            <a:r>
              <a:rPr lang="en-US" sz="1600" dirty="0"/>
              <a:t> </a:t>
            </a:r>
            <a:r>
              <a:rPr lang="en-US" sz="1600" dirty="0" err="1"/>
              <a:t>chiều</a:t>
            </a:r>
            <a:r>
              <a:rPr lang="en-US" sz="1600" dirty="0"/>
              <a:t> </a:t>
            </a:r>
            <a:r>
              <a:rPr lang="en-US" sz="1600" dirty="0" err="1"/>
              <a:t>theo</a:t>
            </a:r>
            <a:r>
              <a:rPr lang="en-US" sz="1600" dirty="0"/>
              <a:t> </a:t>
            </a:r>
            <a:r>
              <a:rPr lang="en-US" sz="1600" dirty="0" err="1"/>
              <a:t>dấu</a:t>
            </a:r>
            <a:r>
              <a:rPr lang="en-US" sz="1600" dirty="0"/>
              <a:t> </a:t>
            </a:r>
            <a:r>
              <a:rPr lang="en-US" sz="1600" dirty="0" err="1"/>
              <a:t>chấm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biệt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3 </a:t>
            </a:r>
            <a:r>
              <a:rPr lang="en-US" sz="1600" dirty="0" err="1"/>
              <a:t>dấu</a:t>
            </a:r>
            <a:r>
              <a:rPr lang="en-US" sz="1600" dirty="0"/>
              <a:t> </a:t>
            </a:r>
            <a:r>
              <a:rPr lang="en-US" sz="1600" dirty="0" err="1"/>
              <a:t>chấm</a:t>
            </a:r>
            <a:r>
              <a:rPr lang="en-US" sz="1600" dirty="0"/>
              <a:t> </a:t>
            </a:r>
            <a:r>
              <a:rPr lang="en-US" sz="1600" dirty="0" err="1"/>
              <a:t>thì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2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góc</a:t>
            </a:r>
            <a:r>
              <a:rPr lang="en-US" sz="1600" dirty="0"/>
              <a:t> </a:t>
            </a:r>
            <a:r>
              <a:rPr lang="en-US" sz="1600" dirty="0" err="1"/>
              <a:t>còn</a:t>
            </a:r>
            <a:r>
              <a:rPr lang="en-US" sz="1600" dirty="0"/>
              <a:t> </a:t>
            </a:r>
            <a:r>
              <a:rPr lang="en-US" sz="1600" dirty="0" err="1"/>
              <a:t>lại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Khi </a:t>
            </a:r>
            <a:r>
              <a:rPr lang="en-US" sz="1600" dirty="0" err="1"/>
              <a:t>có</a:t>
            </a:r>
            <a:r>
              <a:rPr lang="en-US" sz="1600" dirty="0"/>
              <a:t> 2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lõm</a:t>
            </a:r>
            <a:r>
              <a:rPr lang="en-US" sz="1600" dirty="0"/>
              <a:t>,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lõm</a:t>
            </a:r>
            <a:r>
              <a:rPr lang="en-US" sz="1600" dirty="0"/>
              <a:t> </a:t>
            </a:r>
            <a:r>
              <a:rPr lang="en-US" sz="1600" dirty="0" err="1"/>
              <a:t>nhỏ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540C7-A4B8-4D66-9D08-A11CA135F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795" y="1847615"/>
            <a:ext cx="1407759" cy="8574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0C8720-0E7E-4529-AD53-2B2E5ED25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606" y="1820759"/>
            <a:ext cx="1384376" cy="8574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00EEDA-E213-4C2E-B196-9131240CE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193" y="1814739"/>
            <a:ext cx="1481477" cy="9071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664A70-A5C4-4BDB-ABDC-4BA1936E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997" y="1814739"/>
            <a:ext cx="1481477" cy="8574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0BC8DB-E741-4110-BEB6-37C379C15E8C}"/>
              </a:ext>
            </a:extLst>
          </p:cNvPr>
          <p:cNvSpPr txBox="1"/>
          <p:nvPr/>
        </p:nvSpPr>
        <p:spPr>
          <a:xfrm>
            <a:off x="5192795" y="2737420"/>
            <a:ext cx="131591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4187A-87DA-4FDA-B75B-25430FA56E9E}"/>
              </a:ext>
            </a:extLst>
          </p:cNvPr>
          <p:cNvSpPr txBox="1"/>
          <p:nvPr/>
        </p:nvSpPr>
        <p:spPr>
          <a:xfrm>
            <a:off x="4926063" y="3391232"/>
            <a:ext cx="7642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,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sứ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, DIP/SIP/HDR,…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58D77E-96E2-4F8A-991A-064B0277E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490" y="4253303"/>
            <a:ext cx="1188546" cy="10307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68B4E8-BC9F-4F8B-8263-54E28790DB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884" y="4235751"/>
            <a:ext cx="1105035" cy="106995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D21D211-3B8D-444F-B461-6B5DFCC420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055" y="4257502"/>
            <a:ext cx="1283914" cy="10450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2A8BAC-E9F8-436C-B405-343E99C7F2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1357" y="4241617"/>
            <a:ext cx="1265177" cy="104241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1D37672-11BE-465B-880A-80CD7D5FF8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1403" y="4239869"/>
            <a:ext cx="1348479" cy="10441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194AAA-02D8-46D2-9937-0D11C32AEABC}"/>
              </a:ext>
            </a:extLst>
          </p:cNvPr>
          <p:cNvSpPr txBox="1"/>
          <p:nvPr/>
        </p:nvSpPr>
        <p:spPr>
          <a:xfrm>
            <a:off x="6853065" y="2736071"/>
            <a:ext cx="131591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FBA112-9FCE-486E-A8CA-1408F60571FB}"/>
              </a:ext>
            </a:extLst>
          </p:cNvPr>
          <p:cNvSpPr txBox="1"/>
          <p:nvPr/>
        </p:nvSpPr>
        <p:spPr>
          <a:xfrm>
            <a:off x="8426997" y="2712525"/>
            <a:ext cx="131591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D67920-804D-475F-8184-B88B74DC9845}"/>
              </a:ext>
            </a:extLst>
          </p:cNvPr>
          <p:cNvSpPr txBox="1"/>
          <p:nvPr/>
        </p:nvSpPr>
        <p:spPr>
          <a:xfrm>
            <a:off x="10119079" y="2748426"/>
            <a:ext cx="131591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chấm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973F53-EE3C-49C3-B76F-0B52FCFA9B68}"/>
              </a:ext>
            </a:extLst>
          </p:cNvPr>
          <p:cNvSpPr/>
          <p:nvPr/>
        </p:nvSpPr>
        <p:spPr>
          <a:xfrm>
            <a:off x="90118" y="576132"/>
            <a:ext cx="4584356" cy="57057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3BB749-91B1-4C78-AC89-FFE3C0432CBA}"/>
              </a:ext>
            </a:extLst>
          </p:cNvPr>
          <p:cNvGrpSpPr/>
          <p:nvPr/>
        </p:nvGrpSpPr>
        <p:grpSpPr>
          <a:xfrm>
            <a:off x="401727" y="2987180"/>
            <a:ext cx="4136073" cy="2639516"/>
            <a:chOff x="8082949" y="50521"/>
            <a:chExt cx="3985011" cy="223258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F7278E-D1A8-4486-8DCF-74C47E7F8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82949" y="420789"/>
              <a:ext cx="1633164" cy="149205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295513-8CD4-46F8-9782-028EC4216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58514" y="50521"/>
              <a:ext cx="2109446" cy="2232587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516A232-BFE3-436E-A3D2-E366307D0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5091" y="610459"/>
              <a:ext cx="593423" cy="1594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DCA54C0-45B4-4D33-B879-F23FE801E2B9}"/>
                </a:ext>
              </a:extLst>
            </p:cNvPr>
            <p:cNvCxnSpPr>
              <a:cxnSpLocks/>
            </p:cNvCxnSpPr>
            <p:nvPr/>
          </p:nvCxnSpPr>
          <p:spPr>
            <a:xfrm>
              <a:off x="9330993" y="1329885"/>
              <a:ext cx="627521" cy="13740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BA73937-2114-42AE-892E-03E9F5223DE7}"/>
              </a:ext>
            </a:extLst>
          </p:cNvPr>
          <p:cNvSpPr/>
          <p:nvPr/>
        </p:nvSpPr>
        <p:spPr>
          <a:xfrm>
            <a:off x="382939" y="761564"/>
            <a:ext cx="38106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ảnh</a:t>
            </a:r>
            <a:r>
              <a:rPr lang="en-US" sz="1600" dirty="0"/>
              <a:t> PAD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mạch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Khi </a:t>
            </a:r>
            <a:r>
              <a:rPr lang="en-US" sz="1600" dirty="0" err="1"/>
              <a:t>gặp</a:t>
            </a:r>
            <a:r>
              <a:rPr lang="en-US" sz="1600" dirty="0"/>
              <a:t> </a:t>
            </a:r>
            <a:r>
              <a:rPr lang="en-US" sz="1600" dirty="0" err="1"/>
              <a:t>loại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dấu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thân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bên</a:t>
            </a:r>
            <a:r>
              <a:rPr lang="en-US" sz="1600" dirty="0"/>
              <a:t>.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nhưng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PCB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cực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. </a:t>
            </a:r>
            <a:r>
              <a:rPr lang="en-US" sz="1600" dirty="0" err="1"/>
              <a:t>Trường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đầu</a:t>
            </a:r>
            <a:r>
              <a:rPr lang="en-US" sz="1600" dirty="0"/>
              <a:t> </a:t>
            </a:r>
            <a:r>
              <a:rPr lang="en-US" sz="1600" dirty="0" err="1"/>
              <a:t>chân</a:t>
            </a:r>
            <a:r>
              <a:rPr lang="en-US" sz="1600" dirty="0"/>
              <a:t> to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linh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 </a:t>
            </a:r>
            <a:r>
              <a:rPr lang="en-US" sz="1600" dirty="0" err="1"/>
              <a:t>trùng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đầu</a:t>
            </a:r>
            <a:r>
              <a:rPr lang="en-US" sz="1600" dirty="0"/>
              <a:t> PAD to </a:t>
            </a:r>
            <a:r>
              <a:rPr lang="en-US" sz="1600" dirty="0" err="1"/>
              <a:t>trên</a:t>
            </a:r>
            <a:r>
              <a:rPr lang="en-US" sz="1600" dirty="0"/>
              <a:t> PCB.</a:t>
            </a:r>
          </a:p>
        </p:txBody>
      </p:sp>
    </p:spTree>
    <p:extLst>
      <p:ext uri="{BB962C8B-B14F-4D97-AF65-F5344CB8AC3E}">
        <p14:creationId xmlns:p14="http://schemas.microsoft.com/office/powerpoint/2010/main" val="210410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9819</TotalTime>
  <Words>433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Vu Viet Tuan</dc:creator>
  <cp:lastModifiedBy>阮懷南</cp:lastModifiedBy>
  <cp:revision>333</cp:revision>
  <dcterms:modified xsi:type="dcterms:W3CDTF">2025-06-24T03:34:15Z</dcterms:modified>
</cp:coreProperties>
</file>