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1" r:id="rId5"/>
    <p:sldId id="262" r:id="rId6"/>
    <p:sldId id="263" r:id="rId7"/>
    <p:sldId id="273" r:id="rId8"/>
    <p:sldId id="274" r:id="rId9"/>
    <p:sldId id="275" r:id="rId10"/>
    <p:sldId id="265" r:id="rId11"/>
    <p:sldId id="266" r:id="rId12"/>
    <p:sldId id="267" r:id="rId13"/>
    <p:sldId id="268" r:id="rId14"/>
    <p:sldId id="269" r:id="rId15"/>
    <p:sldId id="277" r:id="rId16"/>
    <p:sldId id="278" r:id="rId17"/>
    <p:sldId id="271" r:id="rId18"/>
    <p:sldId id="279" r:id="rId19"/>
    <p:sldId id="280" r:id="rId20"/>
    <p:sldId id="281" r:id="rId21"/>
    <p:sldId id="289" r:id="rId22"/>
    <p:sldId id="282" r:id="rId23"/>
    <p:sldId id="283" r:id="rId24"/>
    <p:sldId id="285" r:id="rId25"/>
    <p:sldId id="286" r:id="rId26"/>
    <p:sldId id="287" r:id="rId27"/>
    <p:sldId id="288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C8920-6AF2-4954-AFAD-AAFA69BE7E02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5A8FD-4D55-4793-A751-E9E0676EA6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437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C8920-6AF2-4954-AFAD-AAFA69BE7E02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5A8FD-4D55-4793-A751-E9E0676EA6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170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C8920-6AF2-4954-AFAD-AAFA69BE7E02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5A8FD-4D55-4793-A751-E9E0676EA6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634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C8920-6AF2-4954-AFAD-AAFA69BE7E02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5A8FD-4D55-4793-A751-E9E0676EA6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574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C8920-6AF2-4954-AFAD-AAFA69BE7E02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5A8FD-4D55-4793-A751-E9E0676EA6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151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C8920-6AF2-4954-AFAD-AAFA69BE7E02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5A8FD-4D55-4793-A751-E9E0676EA6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124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C8920-6AF2-4954-AFAD-AAFA69BE7E02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5A8FD-4D55-4793-A751-E9E0676EA6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137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C8920-6AF2-4954-AFAD-AAFA69BE7E02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5A8FD-4D55-4793-A751-E9E0676EA6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238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C8920-6AF2-4954-AFAD-AAFA69BE7E02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5A8FD-4D55-4793-A751-E9E0676EA6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090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C8920-6AF2-4954-AFAD-AAFA69BE7E02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5A8FD-4D55-4793-A751-E9E0676EA6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256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C8920-6AF2-4954-AFAD-AAFA69BE7E02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95A8FD-4D55-4793-A751-E9E0676EA6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016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9C8920-6AF2-4954-AFAD-AAFA69BE7E02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95A8FD-4D55-4793-A751-E9E0676EA6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567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84210" y="581879"/>
            <a:ext cx="9047019" cy="69249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800" b="1" smtClean="0"/>
              <a:t>Agile</a:t>
            </a:r>
            <a:endParaRPr lang="vi-VN" sz="8800" b="1" smtClean="0"/>
          </a:p>
          <a:p>
            <a:endParaRPr lang="vi-VN" sz="4000" b="1" smtClean="0"/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vi-VN" sz="4000" b="1" smtClean="0"/>
              <a:t>How to LOGIN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vi-VN" sz="4000" b="1" smtClean="0"/>
              <a:t>Dowload BOM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b="1"/>
              <a:t>How to review the </a:t>
            </a:r>
            <a:r>
              <a:rPr lang="en-US" sz="4000" b="1" smtClean="0"/>
              <a:t>BOM</a:t>
            </a:r>
            <a:endParaRPr lang="vi-VN" sz="4000" b="1" smtClean="0"/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b="1" smtClean="0">
                <a:cs typeface="Arial" panose="020B0604020202020204" pitchFamily="34" charset="0"/>
              </a:rPr>
              <a:t>How to upload&amp;download the datasheet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b="1">
                <a:cs typeface="Arial" panose="020B0604020202020204" pitchFamily="34" charset="0"/>
              </a:rPr>
              <a:t>How to check the ECN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endParaRPr lang="en-US" sz="4000" b="1" smtClean="0">
              <a:cs typeface="Arial" panose="020B0604020202020204" pitchFamily="34" charset="0"/>
            </a:endParaRPr>
          </a:p>
          <a:p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smtClean="0"/>
              <a:t> 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792891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954148" y="833644"/>
            <a:ext cx="81083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smtClean="0"/>
              <a:t>LINK=&gt; </a:t>
            </a:r>
            <a:r>
              <a:rPr lang="en-US" sz="2800" smtClean="0">
                <a:solidFill>
                  <a:schemeClr val="accent1">
                    <a:lumMod val="75000"/>
                  </a:schemeClr>
                </a:solidFill>
              </a:rPr>
              <a:t>https://lh-account.cnsbg.efoxconn.com/login?</a:t>
            </a:r>
            <a:endParaRPr lang="en-US" sz="280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8868" y="1356864"/>
            <a:ext cx="7259063" cy="4858428"/>
          </a:xfrm>
          <a:prstGeom prst="rect">
            <a:avLst/>
          </a:prstGeom>
        </p:spPr>
      </p:pic>
      <p:sp>
        <p:nvSpPr>
          <p:cNvPr id="7" name="Rounded Rectangular Callout 6"/>
          <p:cNvSpPr/>
          <p:nvPr/>
        </p:nvSpPr>
        <p:spPr>
          <a:xfrm>
            <a:off x="5929744" y="2064326"/>
            <a:ext cx="1565205" cy="457201"/>
          </a:xfrm>
          <a:prstGeom prst="wedgeRoundRectCallout">
            <a:avLst>
              <a:gd name="adj1" fmla="val -49541"/>
              <a:gd name="adj2" fmla="val 9660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mtClean="0"/>
              <a:t>Nhập tên TK</a:t>
            </a:r>
            <a:endParaRPr lang="en-US"/>
          </a:p>
        </p:txBody>
      </p:sp>
      <p:sp>
        <p:nvSpPr>
          <p:cNvPr id="8" name="Rounded Rectangular Callout 7"/>
          <p:cNvSpPr/>
          <p:nvPr/>
        </p:nvSpPr>
        <p:spPr>
          <a:xfrm>
            <a:off x="2618868" y="2729342"/>
            <a:ext cx="1842296" cy="457201"/>
          </a:xfrm>
          <a:prstGeom prst="wedgeRoundRectCallout">
            <a:avLst>
              <a:gd name="adj1" fmla="val 69070"/>
              <a:gd name="adj2" fmla="val 10569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mtClean="0"/>
              <a:t>Nhập mật khẩu</a:t>
            </a:r>
            <a:endParaRPr lang="en-US"/>
          </a:p>
        </p:txBody>
      </p:sp>
      <p:sp>
        <p:nvSpPr>
          <p:cNvPr id="9" name="Rounded Rectangular Callout 8"/>
          <p:cNvSpPr/>
          <p:nvPr/>
        </p:nvSpPr>
        <p:spPr>
          <a:xfrm>
            <a:off x="5541996" y="3273459"/>
            <a:ext cx="1412805" cy="457201"/>
          </a:xfrm>
          <a:prstGeom prst="wedgeRoundRectCallout">
            <a:avLst>
              <a:gd name="adj1" fmla="val -49541"/>
              <a:gd name="adj2" fmla="val 9660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mtClean="0"/>
              <a:t>Nhập mã</a:t>
            </a:r>
            <a:endParaRPr lang="en-US"/>
          </a:p>
        </p:txBody>
      </p:sp>
      <p:sp>
        <p:nvSpPr>
          <p:cNvPr id="10" name="Rounded Rectangular Callout 9"/>
          <p:cNvSpPr/>
          <p:nvPr/>
        </p:nvSpPr>
        <p:spPr>
          <a:xfrm>
            <a:off x="5901675" y="3980921"/>
            <a:ext cx="1884220" cy="457201"/>
          </a:xfrm>
          <a:prstGeom prst="wedgeRoundRectCallout">
            <a:avLst>
              <a:gd name="adj1" fmla="val -49541"/>
              <a:gd name="adj2" fmla="val 9660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mtClean="0"/>
              <a:t>Chọn Foxconn</a:t>
            </a:r>
            <a:endParaRPr lang="en-US"/>
          </a:p>
        </p:txBody>
      </p:sp>
      <p:sp>
        <p:nvSpPr>
          <p:cNvPr id="11" name="Rounded Rectangular Callout 10"/>
          <p:cNvSpPr/>
          <p:nvPr/>
        </p:nvSpPr>
        <p:spPr>
          <a:xfrm>
            <a:off x="7785895" y="4732741"/>
            <a:ext cx="1565205" cy="457201"/>
          </a:xfrm>
          <a:prstGeom prst="wedgeRoundRectCallout">
            <a:avLst>
              <a:gd name="adj1" fmla="val -54852"/>
              <a:gd name="adj2" fmla="val 11781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mtClean="0"/>
              <a:t>Đăng nhập</a:t>
            </a:r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31052" y="316373"/>
            <a:ext cx="1749197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vi-VN" b="1"/>
              <a:t>How to LOGIN</a:t>
            </a:r>
          </a:p>
        </p:txBody>
      </p:sp>
    </p:spTree>
    <p:extLst>
      <p:ext uri="{BB962C8B-B14F-4D97-AF65-F5344CB8AC3E}">
        <p14:creationId xmlns:p14="http://schemas.microsoft.com/office/powerpoint/2010/main" val="761671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440" y="948900"/>
            <a:ext cx="4339173" cy="244353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117" y="1800445"/>
            <a:ext cx="5975832" cy="43726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440" y="3943865"/>
            <a:ext cx="4339173" cy="189659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2725" y="3210960"/>
            <a:ext cx="3915627" cy="259768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966441" y="948900"/>
            <a:ext cx="2167855" cy="34482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smtClean="0">
                <a:solidFill>
                  <a:schemeClr val="tx1"/>
                </a:solidFill>
              </a:rPr>
              <a:t>1</a:t>
            </a:r>
            <a:r>
              <a:rPr lang="en-US" smtClean="0">
                <a:solidFill>
                  <a:schemeClr val="tx1"/>
                </a:solidFill>
              </a:rPr>
              <a:t>. </a:t>
            </a:r>
            <a:r>
              <a:rPr lang="vi-VN" smtClean="0">
                <a:solidFill>
                  <a:schemeClr val="tx1"/>
                </a:solidFill>
              </a:rPr>
              <a:t>Đăng nhập mail</a:t>
            </a:r>
            <a:endParaRPr lang="en-US" b="1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367125" y="1184424"/>
            <a:ext cx="2082841" cy="56482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b="1" smtClean="0">
                <a:solidFill>
                  <a:schemeClr val="tx1"/>
                </a:solidFill>
              </a:rPr>
              <a:t>2</a:t>
            </a:r>
            <a:r>
              <a:rPr lang="vi-VN" smtClean="0">
                <a:solidFill>
                  <a:schemeClr val="tx1"/>
                </a:solidFill>
              </a:rPr>
              <a:t>. Vào mail lấy mật khẩu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614867" y="5292483"/>
            <a:ext cx="1649860" cy="443157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smtClean="0">
                <a:solidFill>
                  <a:schemeClr val="tx1"/>
                </a:solidFill>
              </a:rPr>
              <a:t>3</a:t>
            </a:r>
            <a:r>
              <a:rPr lang="vi-VN" smtClean="0">
                <a:solidFill>
                  <a:schemeClr val="tx1"/>
                </a:solidFill>
              </a:rPr>
              <a:t>. Copy mật khẩu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582726" y="5252746"/>
            <a:ext cx="2208504" cy="53798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b="1" smtClean="0">
                <a:solidFill>
                  <a:schemeClr val="tx1"/>
                </a:solidFill>
              </a:rPr>
              <a:t>4</a:t>
            </a:r>
            <a:r>
              <a:rPr lang="vi-VN" smtClean="0">
                <a:solidFill>
                  <a:schemeClr val="tx1"/>
                </a:solidFill>
              </a:rPr>
              <a:t>. Nhập mật khẩu và đăng nhập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2376910" y="4079773"/>
            <a:ext cx="1689776" cy="62333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631052" y="316373"/>
            <a:ext cx="1749197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vi-VN" b="1"/>
              <a:t>How to LOGIN</a:t>
            </a:r>
          </a:p>
        </p:txBody>
      </p:sp>
    </p:spTree>
    <p:extLst>
      <p:ext uri="{BB962C8B-B14F-4D97-AF65-F5344CB8AC3E}">
        <p14:creationId xmlns:p14="http://schemas.microsoft.com/office/powerpoint/2010/main" val="2215069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383" y="2795498"/>
            <a:ext cx="11679382" cy="1527119"/>
          </a:xfrm>
          <a:prstGeom prst="rect">
            <a:avLst/>
          </a:prstGeom>
        </p:spPr>
      </p:pic>
      <p:sp>
        <p:nvSpPr>
          <p:cNvPr id="9" name="Rounded Rectangular Callout 8"/>
          <p:cNvSpPr/>
          <p:nvPr/>
        </p:nvSpPr>
        <p:spPr>
          <a:xfrm>
            <a:off x="1059874" y="2438432"/>
            <a:ext cx="1274618" cy="484909"/>
          </a:xfrm>
          <a:prstGeom prst="wedgeRoundRectCallout">
            <a:avLst>
              <a:gd name="adj1" fmla="val 906"/>
              <a:gd name="adj2" fmla="val 14250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mtClean="0"/>
              <a:t>Thoát TK</a:t>
            </a:r>
            <a:endParaRPr lang="en-US"/>
          </a:p>
        </p:txBody>
      </p:sp>
      <p:sp>
        <p:nvSpPr>
          <p:cNvPr id="10" name="Rounded Rectangular Callout 9"/>
          <p:cNvSpPr/>
          <p:nvPr/>
        </p:nvSpPr>
        <p:spPr>
          <a:xfrm>
            <a:off x="3020292" y="1617535"/>
            <a:ext cx="1274618" cy="484909"/>
          </a:xfrm>
          <a:prstGeom prst="wedgeRoundRectCallout">
            <a:avLst>
              <a:gd name="adj1" fmla="val 11775"/>
              <a:gd name="adj2" fmla="val 24821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mtClean="0"/>
              <a:t>Trang chủ</a:t>
            </a:r>
            <a:endParaRPr lang="en-US"/>
          </a:p>
        </p:txBody>
      </p:sp>
      <p:sp>
        <p:nvSpPr>
          <p:cNvPr id="11" name="Rounded Rectangular Callout 10"/>
          <p:cNvSpPr/>
          <p:nvPr/>
        </p:nvSpPr>
        <p:spPr>
          <a:xfrm>
            <a:off x="4966855" y="1657547"/>
            <a:ext cx="1648691" cy="644236"/>
          </a:xfrm>
          <a:prstGeom prst="wedgeRoundRectCallout">
            <a:avLst>
              <a:gd name="adj1" fmla="val -74642"/>
              <a:gd name="adj2" fmla="val 16726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mtClean="0"/>
              <a:t>Tạo mới BOM &amp; EC</a:t>
            </a:r>
            <a:endParaRPr lang="en-US"/>
          </a:p>
        </p:txBody>
      </p:sp>
      <p:sp>
        <p:nvSpPr>
          <p:cNvPr id="12" name="Rounded Rectangular Callout 11"/>
          <p:cNvSpPr/>
          <p:nvPr/>
        </p:nvSpPr>
        <p:spPr>
          <a:xfrm>
            <a:off x="8562109" y="1859990"/>
            <a:ext cx="1274618" cy="564572"/>
          </a:xfrm>
          <a:prstGeom prst="wedgeRoundRectCallout">
            <a:avLst>
              <a:gd name="adj1" fmla="val 28080"/>
              <a:gd name="adj2" fmla="val 16356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mtClean="0"/>
              <a:t>Tìm kiếm SP</a:t>
            </a: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31052" y="316373"/>
            <a:ext cx="1749197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vi-VN" b="1"/>
              <a:t>How to LOGIN</a:t>
            </a:r>
          </a:p>
        </p:txBody>
      </p:sp>
    </p:spTree>
    <p:extLst>
      <p:ext uri="{BB962C8B-B14F-4D97-AF65-F5344CB8AC3E}">
        <p14:creationId xmlns:p14="http://schemas.microsoft.com/office/powerpoint/2010/main" val="434129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4892" y="996380"/>
            <a:ext cx="7003909" cy="4676390"/>
          </a:xfrm>
          <a:prstGeom prst="rect">
            <a:avLst/>
          </a:prstGeom>
        </p:spPr>
      </p:pic>
      <p:sp>
        <p:nvSpPr>
          <p:cNvPr id="3" name="Rounded Rectangular Callout 2"/>
          <p:cNvSpPr/>
          <p:nvPr/>
        </p:nvSpPr>
        <p:spPr>
          <a:xfrm>
            <a:off x="1772947" y="3317595"/>
            <a:ext cx="1214604" cy="393073"/>
          </a:xfrm>
          <a:prstGeom prst="wedgeRoundRectCallout">
            <a:avLst>
              <a:gd name="adj1" fmla="val 38285"/>
              <a:gd name="adj2" fmla="val -20267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mtClean="0"/>
              <a:t>Trang bìa</a:t>
            </a:r>
            <a:endParaRPr lang="en-US"/>
          </a:p>
        </p:txBody>
      </p:sp>
      <p:sp>
        <p:nvSpPr>
          <p:cNvPr id="4" name="Rounded Rectangular Callout 3"/>
          <p:cNvSpPr/>
          <p:nvPr/>
        </p:nvSpPr>
        <p:spPr>
          <a:xfrm>
            <a:off x="1196674" y="1274629"/>
            <a:ext cx="1305756" cy="495786"/>
          </a:xfrm>
          <a:prstGeom prst="wedgeRoundRectCallout">
            <a:avLst>
              <a:gd name="adj1" fmla="val 57818"/>
              <a:gd name="adj2" fmla="val 15469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mtClean="0"/>
              <a:t>Phê duyệt</a:t>
            </a:r>
            <a:endParaRPr lang="en-US"/>
          </a:p>
        </p:txBody>
      </p:sp>
      <p:sp>
        <p:nvSpPr>
          <p:cNvPr id="5" name="Rounded Rectangular Callout 4"/>
          <p:cNvSpPr/>
          <p:nvPr/>
        </p:nvSpPr>
        <p:spPr>
          <a:xfrm>
            <a:off x="3449565" y="3317595"/>
            <a:ext cx="1381853" cy="393073"/>
          </a:xfrm>
          <a:prstGeom prst="wedgeRoundRectCallout">
            <a:avLst>
              <a:gd name="adj1" fmla="val -30655"/>
              <a:gd name="adj2" fmla="val -19566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mtClean="0"/>
              <a:t>Trạng thái</a:t>
            </a:r>
            <a:endParaRPr lang="en-US"/>
          </a:p>
        </p:txBody>
      </p:sp>
      <p:sp>
        <p:nvSpPr>
          <p:cNvPr id="6" name="Rounded Rectangular Callout 5"/>
          <p:cNvSpPr/>
          <p:nvPr/>
        </p:nvSpPr>
        <p:spPr>
          <a:xfrm>
            <a:off x="3741166" y="1487059"/>
            <a:ext cx="1214604" cy="393073"/>
          </a:xfrm>
          <a:prstGeom prst="wedgeRoundRectCallout">
            <a:avLst>
              <a:gd name="adj1" fmla="val 21050"/>
              <a:gd name="adj2" fmla="val 21426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mtClean="0"/>
              <a:t>Quy trình</a:t>
            </a:r>
            <a:endParaRPr lang="en-US"/>
          </a:p>
        </p:txBody>
      </p:sp>
      <p:sp>
        <p:nvSpPr>
          <p:cNvPr id="7" name="Rounded Rectangular Callout 6"/>
          <p:cNvSpPr/>
          <p:nvPr/>
        </p:nvSpPr>
        <p:spPr>
          <a:xfrm>
            <a:off x="4344057" y="3950572"/>
            <a:ext cx="2149648" cy="503248"/>
          </a:xfrm>
          <a:prstGeom prst="wedgeRoundRectCallout">
            <a:avLst>
              <a:gd name="adj1" fmla="val 18809"/>
              <a:gd name="adj2" fmla="val -29571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mtClean="0"/>
              <a:t>Tệp đính kèm</a:t>
            </a:r>
            <a:endParaRPr lang="en-US"/>
          </a:p>
        </p:txBody>
      </p:sp>
      <p:sp>
        <p:nvSpPr>
          <p:cNvPr id="8" name="Rounded Rectangular Callout 7"/>
          <p:cNvSpPr/>
          <p:nvPr/>
        </p:nvSpPr>
        <p:spPr>
          <a:xfrm>
            <a:off x="6478093" y="1149938"/>
            <a:ext cx="1728331" cy="728182"/>
          </a:xfrm>
          <a:prstGeom prst="wedgeRoundRectCallout">
            <a:avLst>
              <a:gd name="adj1" fmla="val -31369"/>
              <a:gd name="adj2" fmla="val 9529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mtClean="0"/>
              <a:t>Sang giai đoạn tiếp theo</a:t>
            </a:r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31052" y="316373"/>
            <a:ext cx="1749197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vi-VN" b="1"/>
              <a:t>How to LOGIN</a:t>
            </a:r>
          </a:p>
        </p:txBody>
      </p:sp>
    </p:spTree>
    <p:extLst>
      <p:ext uri="{BB962C8B-B14F-4D97-AF65-F5344CB8AC3E}">
        <p14:creationId xmlns:p14="http://schemas.microsoft.com/office/powerpoint/2010/main" val="1700795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1782" y="346364"/>
            <a:ext cx="1911927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vi-VN" b="1" smtClean="0"/>
              <a:t>Dowload BOM</a:t>
            </a:r>
            <a:endParaRPr lang="en-US" b="1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835" y="1556142"/>
            <a:ext cx="7906853" cy="471553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Rectangle 5"/>
          <p:cNvSpPr/>
          <p:nvPr/>
        </p:nvSpPr>
        <p:spPr>
          <a:xfrm>
            <a:off x="1052944" y="839684"/>
            <a:ext cx="9005455" cy="59247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buFontTx/>
              <a:buChar char="•"/>
            </a:pPr>
            <a:r>
              <a:rPr lang="en-US" altLang="zh-TW" sz="2600"/>
              <a:t>Search project </a:t>
            </a:r>
            <a:r>
              <a:rPr lang="en-US" altLang="zh-TW" sz="2600" err="1"/>
              <a:t>name</a:t>
            </a:r>
            <a:r>
              <a:rPr lang="en-US" altLang="zh-TW" sz="2600" err="1">
                <a:sym typeface="Wingdings" panose="05000000000000000000" pitchFamily="2" charset="2"/>
              </a:rPr>
              <a:t></a:t>
            </a:r>
            <a:r>
              <a:rPr lang="en-US" altLang="zh-CN" sz="2600" err="1"/>
              <a:t>Actions</a:t>
            </a:r>
            <a:r>
              <a:rPr lang="en-US" altLang="zh-CN" sz="2600" err="1">
                <a:sym typeface="Wingdings" panose="05000000000000000000" pitchFamily="2" charset="2"/>
              </a:rPr>
              <a:t>Microsoft</a:t>
            </a:r>
            <a:r>
              <a:rPr lang="en-US" altLang="zh-CN" sz="2600">
                <a:sym typeface="Wingdings" panose="05000000000000000000" pitchFamily="2" charset="2"/>
              </a:rPr>
              <a:t> </a:t>
            </a:r>
            <a:r>
              <a:rPr lang="en-US" altLang="zh-CN" sz="2600" err="1">
                <a:sym typeface="Wingdings" panose="05000000000000000000" pitchFamily="2" charset="2"/>
              </a:rPr>
              <a:t>ExcelExport</a:t>
            </a:r>
            <a:r>
              <a:rPr lang="en-US" altLang="zh-CN" sz="2600">
                <a:sym typeface="Wingdings" panose="05000000000000000000" pitchFamily="2" charset="2"/>
              </a:rPr>
              <a:t> Excel</a:t>
            </a:r>
            <a:endParaRPr lang="zh-TW" altLang="en-US" sz="2600"/>
          </a:p>
        </p:txBody>
      </p:sp>
      <p:sp>
        <p:nvSpPr>
          <p:cNvPr id="7" name="Rounded Rectangle 6"/>
          <p:cNvSpPr/>
          <p:nvPr/>
        </p:nvSpPr>
        <p:spPr>
          <a:xfrm>
            <a:off x="5675480" y="2665208"/>
            <a:ext cx="803564" cy="36893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7338024" y="5228299"/>
            <a:ext cx="836157" cy="36893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5800169" y="5228300"/>
            <a:ext cx="946993" cy="36893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265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1783" y="346364"/>
            <a:ext cx="2757054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/>
              <a:t>How to review the BOM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2327" y="1014511"/>
            <a:ext cx="9224806" cy="506763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Rounded Rectangular Callout 9"/>
          <p:cNvSpPr/>
          <p:nvPr/>
        </p:nvSpPr>
        <p:spPr>
          <a:xfrm>
            <a:off x="8285017" y="1551709"/>
            <a:ext cx="2105891" cy="734291"/>
          </a:xfrm>
          <a:prstGeom prst="wedgeRoundRectCallout">
            <a:avLst>
              <a:gd name="adj1" fmla="val -27451"/>
              <a:gd name="adj2" fmla="val -10353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mtClean="0"/>
              <a:t>1. Tìm kiếm theo tên model number</a:t>
            </a:r>
            <a:endParaRPr lang="en-US"/>
          </a:p>
        </p:txBody>
      </p:sp>
      <p:sp>
        <p:nvSpPr>
          <p:cNvPr id="11" name="Rounded Rectangular Callout 10"/>
          <p:cNvSpPr/>
          <p:nvPr/>
        </p:nvSpPr>
        <p:spPr>
          <a:xfrm>
            <a:off x="1731818" y="2895600"/>
            <a:ext cx="1427019" cy="595745"/>
          </a:xfrm>
          <a:prstGeom prst="wedgeRoundRectCallout">
            <a:avLst>
              <a:gd name="adj1" fmla="val -50245"/>
              <a:gd name="adj2" fmla="val -8401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mtClean="0"/>
              <a:t>2. Tiêu đề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561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1783" y="346364"/>
            <a:ext cx="2757054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/>
              <a:t>How to review the BOM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4728" y="1052957"/>
            <a:ext cx="9224806" cy="506763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Rounded Rectangle 4"/>
          <p:cNvSpPr/>
          <p:nvPr/>
        </p:nvSpPr>
        <p:spPr>
          <a:xfrm>
            <a:off x="2175164" y="2008909"/>
            <a:ext cx="1842654" cy="36021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ular Callout 5"/>
          <p:cNvSpPr/>
          <p:nvPr/>
        </p:nvSpPr>
        <p:spPr>
          <a:xfrm>
            <a:off x="3435927" y="1357745"/>
            <a:ext cx="1828800" cy="443346"/>
          </a:xfrm>
          <a:prstGeom prst="wedgeRoundRectCallout">
            <a:avLst>
              <a:gd name="adj1" fmla="val -25378"/>
              <a:gd name="adj2" fmla="val 12187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mtClean="0"/>
              <a:t>3.</a:t>
            </a:r>
            <a:r>
              <a:rPr lang="en-US" smtClean="0"/>
              <a:t> </a:t>
            </a:r>
            <a:r>
              <a:rPr lang="en-US"/>
              <a:t>BOM Version</a:t>
            </a:r>
          </a:p>
        </p:txBody>
      </p:sp>
      <p:sp>
        <p:nvSpPr>
          <p:cNvPr id="7" name="Rounded Rectangular Callout 6"/>
          <p:cNvSpPr/>
          <p:nvPr/>
        </p:nvSpPr>
        <p:spPr>
          <a:xfrm>
            <a:off x="1454728" y="1343890"/>
            <a:ext cx="1281545" cy="471055"/>
          </a:xfrm>
          <a:prstGeom prst="wedgeRoundRectCallout">
            <a:avLst>
              <a:gd name="adj1" fmla="val 15038"/>
              <a:gd name="adj2" fmla="val 19191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mtClean="0"/>
              <a:t>4.Những thay đổi</a:t>
            </a:r>
            <a:endParaRPr lang="en-US"/>
          </a:p>
        </p:txBody>
      </p:sp>
      <p:sp>
        <p:nvSpPr>
          <p:cNvPr id="8" name="Rounded Rectangular Callout 7"/>
          <p:cNvSpPr/>
          <p:nvPr/>
        </p:nvSpPr>
        <p:spPr>
          <a:xfrm>
            <a:off x="2736273" y="3420514"/>
            <a:ext cx="2376054" cy="360218"/>
          </a:xfrm>
          <a:prstGeom prst="wedgeRoundRectCallout">
            <a:avLst>
              <a:gd name="adj1" fmla="val -72966"/>
              <a:gd name="adj2" fmla="val -13365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mtClean="0"/>
              <a:t>5.Thay đổi chờ xử lý</a:t>
            </a:r>
            <a:endParaRPr lang="en-US"/>
          </a:p>
        </p:txBody>
      </p:sp>
      <p:sp>
        <p:nvSpPr>
          <p:cNvPr id="9" name="Rounded Rectangular Callout 8"/>
          <p:cNvSpPr/>
          <p:nvPr/>
        </p:nvSpPr>
        <p:spPr>
          <a:xfrm>
            <a:off x="2410691" y="4682836"/>
            <a:ext cx="1704109" cy="595746"/>
          </a:xfrm>
          <a:prstGeom prst="wedgeRoundRectCallout">
            <a:avLst>
              <a:gd name="adj1" fmla="val -56605"/>
              <a:gd name="adj2" fmla="val -9564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mtClean="0"/>
              <a:t>6. Lịch sử thay đổi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642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1783" y="346364"/>
            <a:ext cx="2757054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/>
              <a:t>How to review the BOM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4729" y="955966"/>
            <a:ext cx="9224806" cy="520837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Rounded Rectangle 15"/>
          <p:cNvSpPr/>
          <p:nvPr/>
        </p:nvSpPr>
        <p:spPr>
          <a:xfrm>
            <a:off x="1524000" y="3643745"/>
            <a:ext cx="290945" cy="24938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/>
          <p:cNvSpPr/>
          <p:nvPr/>
        </p:nvSpPr>
        <p:spPr>
          <a:xfrm>
            <a:off x="2161309" y="3976255"/>
            <a:ext cx="180109" cy="44334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/>
          <p:cNvSpPr/>
          <p:nvPr/>
        </p:nvSpPr>
        <p:spPr>
          <a:xfrm>
            <a:off x="1524000" y="4572000"/>
            <a:ext cx="498764" cy="19396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ular Callout 18"/>
          <p:cNvSpPr/>
          <p:nvPr/>
        </p:nvSpPr>
        <p:spPr>
          <a:xfrm>
            <a:off x="1524000" y="2643845"/>
            <a:ext cx="1066800" cy="642053"/>
          </a:xfrm>
          <a:prstGeom prst="wedgeRoundRectCallout">
            <a:avLst>
              <a:gd name="adj1" fmla="val -39015"/>
              <a:gd name="adj2" fmla="val 11213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mtClean="0"/>
              <a:t>8. Đính kèm</a:t>
            </a:r>
            <a:endParaRPr lang="en-US"/>
          </a:p>
        </p:txBody>
      </p:sp>
      <p:sp>
        <p:nvSpPr>
          <p:cNvPr id="20" name="Rounded Rectangular Callout 19"/>
          <p:cNvSpPr/>
          <p:nvPr/>
        </p:nvSpPr>
        <p:spPr>
          <a:xfrm>
            <a:off x="2923308" y="2602281"/>
            <a:ext cx="2036619" cy="665017"/>
          </a:xfrm>
          <a:prstGeom prst="wedgeRoundRectCallout">
            <a:avLst>
              <a:gd name="adj1" fmla="val -46313"/>
              <a:gd name="adj2" fmla="val -6918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mtClean="0"/>
              <a:t>7. Danh sách nguyên vật liệu</a:t>
            </a:r>
            <a:endParaRPr lang="en-US"/>
          </a:p>
        </p:txBody>
      </p:sp>
      <p:sp>
        <p:nvSpPr>
          <p:cNvPr id="21" name="Rounded Rectangular Callout 20"/>
          <p:cNvSpPr/>
          <p:nvPr/>
        </p:nvSpPr>
        <p:spPr>
          <a:xfrm>
            <a:off x="3047998" y="3768436"/>
            <a:ext cx="1607128" cy="725180"/>
          </a:xfrm>
          <a:prstGeom prst="wedgeRoundRectCallout">
            <a:avLst>
              <a:gd name="adj1" fmla="val -94971"/>
              <a:gd name="adj2" fmla="val 900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mtClean="0"/>
              <a:t>9. Mở rộng theo level</a:t>
            </a:r>
            <a:endParaRPr lang="en-US"/>
          </a:p>
        </p:txBody>
      </p:sp>
      <p:sp>
        <p:nvSpPr>
          <p:cNvPr id="22" name="Rounded Rectangular Callout 21"/>
          <p:cNvSpPr/>
          <p:nvPr/>
        </p:nvSpPr>
        <p:spPr>
          <a:xfrm>
            <a:off x="2022764" y="5183973"/>
            <a:ext cx="1607128" cy="725180"/>
          </a:xfrm>
          <a:prstGeom prst="wedgeRoundRectCallout">
            <a:avLst>
              <a:gd name="adj1" fmla="val -49281"/>
              <a:gd name="adj2" fmla="val -12281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mtClean="0"/>
              <a:t>10. Có tệp đính kèm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116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1782" y="346364"/>
            <a:ext cx="4804399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How to </a:t>
            </a:r>
            <a:r>
              <a:rPr lang="en-US" b="1" smtClean="0">
                <a:latin typeface="Arial" panose="020B0604020202020204" pitchFamily="34" charset="0"/>
                <a:cs typeface="Arial" panose="020B0604020202020204" pitchFamily="34" charset="0"/>
              </a:rPr>
              <a:t>upload</a:t>
            </a:r>
            <a:r>
              <a:rPr lang="vi-VN" b="1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smtClean="0">
                <a:latin typeface="Arial" panose="020B0604020202020204" pitchFamily="34" charset="0"/>
                <a:cs typeface="Arial" panose="020B0604020202020204" pitchFamily="34" charset="0"/>
              </a:rPr>
              <a:t>&amp;</a:t>
            </a:r>
            <a:r>
              <a:rPr lang="vi-VN" b="1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smtClean="0">
                <a:latin typeface="Arial" panose="020B0604020202020204" pitchFamily="34" charset="0"/>
                <a:cs typeface="Arial" panose="020B0604020202020204" pitchFamily="34" charset="0"/>
              </a:rPr>
              <a:t>download </a:t>
            </a: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the datasheet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7302" y="1049114"/>
            <a:ext cx="7954485" cy="525853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936178" y="310358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>
              <a:solidFill>
                <a:srgbClr val="FF0000"/>
              </a:solidFill>
            </a:endParaRPr>
          </a:p>
        </p:txBody>
      </p:sp>
      <p:sp>
        <p:nvSpPr>
          <p:cNvPr id="21" name="Rounded Rectangular Callout 20"/>
          <p:cNvSpPr/>
          <p:nvPr/>
        </p:nvSpPr>
        <p:spPr>
          <a:xfrm>
            <a:off x="6913414" y="346364"/>
            <a:ext cx="1676403" cy="369424"/>
          </a:xfrm>
          <a:prstGeom prst="wedgeRoundRectCallout">
            <a:avLst>
              <a:gd name="adj1" fmla="val -16328"/>
              <a:gd name="adj2" fmla="val 15625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mtClean="0">
                <a:solidFill>
                  <a:schemeClr val="bg1"/>
                </a:solidFill>
              </a:rPr>
              <a:t>1.Model_name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22" name="Rounded Rectangular Callout 21"/>
          <p:cNvSpPr/>
          <p:nvPr/>
        </p:nvSpPr>
        <p:spPr>
          <a:xfrm>
            <a:off x="2770904" y="3322812"/>
            <a:ext cx="1281547" cy="369424"/>
          </a:xfrm>
          <a:prstGeom prst="wedgeRoundRectCallout">
            <a:avLst>
              <a:gd name="adj1" fmla="val -44436"/>
              <a:gd name="adj2" fmla="val -20377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vi-VN" smtClean="0">
                <a:solidFill>
                  <a:schemeClr val="bg1"/>
                </a:solidFill>
              </a:rPr>
              <a:t>2.Tiêu đề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23" name="Rounded Rectangular Callout 22"/>
          <p:cNvSpPr/>
          <p:nvPr/>
        </p:nvSpPr>
        <p:spPr>
          <a:xfrm>
            <a:off x="3283524" y="1561277"/>
            <a:ext cx="1537854" cy="369424"/>
          </a:xfrm>
          <a:prstGeom prst="wedgeRoundRectCallout">
            <a:avLst>
              <a:gd name="adj1" fmla="val -16328"/>
              <a:gd name="adj2" fmla="val 15625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mtClean="0"/>
              <a:t>3. </a:t>
            </a:r>
            <a:r>
              <a:rPr lang="en-US" smtClean="0"/>
              <a:t>Version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774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1782" y="346364"/>
            <a:ext cx="4715908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How to </a:t>
            </a:r>
            <a:r>
              <a:rPr lang="en-US" b="1" smtClean="0">
                <a:latin typeface="Arial" panose="020B0604020202020204" pitchFamily="34" charset="0"/>
                <a:cs typeface="Arial" panose="020B0604020202020204" pitchFamily="34" charset="0"/>
              </a:rPr>
              <a:t>upload</a:t>
            </a:r>
            <a:r>
              <a:rPr lang="vi-VN" b="1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smtClean="0">
                <a:latin typeface="Arial" panose="020B0604020202020204" pitchFamily="34" charset="0"/>
                <a:cs typeface="Arial" panose="020B0604020202020204" pitchFamily="34" charset="0"/>
              </a:rPr>
              <a:t>&amp;</a:t>
            </a:r>
            <a:r>
              <a:rPr lang="vi-VN" b="1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smtClean="0">
                <a:latin typeface="Arial" panose="020B0604020202020204" pitchFamily="34" charset="0"/>
                <a:cs typeface="Arial" panose="020B0604020202020204" pitchFamily="34" charset="0"/>
              </a:rPr>
              <a:t>download </a:t>
            </a: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the datasheet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36178" y="310358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>
              <a:solidFill>
                <a:srgbClr val="FF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7301" y="1062071"/>
            <a:ext cx="7954485" cy="525853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Rounded Rectangular Callout 8"/>
          <p:cNvSpPr/>
          <p:nvPr/>
        </p:nvSpPr>
        <p:spPr>
          <a:xfrm>
            <a:off x="2951015" y="2115459"/>
            <a:ext cx="1537854" cy="369424"/>
          </a:xfrm>
          <a:prstGeom prst="wedgeRoundRectCallout">
            <a:avLst>
              <a:gd name="adj1" fmla="val -16328"/>
              <a:gd name="adj2" fmla="val 15625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vi-VN" smtClean="0">
                <a:solidFill>
                  <a:schemeClr val="bg1"/>
                </a:solidFill>
              </a:rPr>
              <a:t>4. Thay đổi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Rounded Rectangular Callout 9"/>
          <p:cNvSpPr/>
          <p:nvPr/>
        </p:nvSpPr>
        <p:spPr>
          <a:xfrm>
            <a:off x="3719942" y="2701635"/>
            <a:ext cx="3117276" cy="557465"/>
          </a:xfrm>
          <a:prstGeom prst="wedgeRoundRectCallout">
            <a:avLst>
              <a:gd name="adj1" fmla="val -55030"/>
              <a:gd name="adj2" fmla="val 9213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vi-VN" smtClean="0">
                <a:solidFill>
                  <a:schemeClr val="bg1"/>
                </a:solidFill>
              </a:rPr>
              <a:t>5. Thay đổi đang chờ xử lý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Rounded Rectangular Callout 10"/>
          <p:cNvSpPr/>
          <p:nvPr/>
        </p:nvSpPr>
        <p:spPr>
          <a:xfrm>
            <a:off x="3373576" y="4033320"/>
            <a:ext cx="2230585" cy="369424"/>
          </a:xfrm>
          <a:prstGeom prst="wedgeRoundRectCallout">
            <a:avLst>
              <a:gd name="adj1" fmla="val -51262"/>
              <a:gd name="adj2" fmla="val 17126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vi-VN" smtClean="0">
                <a:solidFill>
                  <a:schemeClr val="bg1"/>
                </a:solidFill>
              </a:rPr>
              <a:t>6</a:t>
            </a:r>
            <a:r>
              <a:rPr lang="en-US" smtClean="0">
                <a:solidFill>
                  <a:schemeClr val="bg1"/>
                </a:solidFill>
              </a:rPr>
              <a:t>.</a:t>
            </a:r>
            <a:r>
              <a:rPr lang="vi-VN" smtClean="0">
                <a:solidFill>
                  <a:schemeClr val="bg1"/>
                </a:solidFill>
              </a:rPr>
              <a:t> Lịch sử thay đổi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796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1782" y="346364"/>
            <a:ext cx="4730657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How to </a:t>
            </a:r>
            <a:r>
              <a:rPr lang="en-US" b="1" smtClean="0">
                <a:latin typeface="Arial" panose="020B0604020202020204" pitchFamily="34" charset="0"/>
                <a:cs typeface="Arial" panose="020B0604020202020204" pitchFamily="34" charset="0"/>
              </a:rPr>
              <a:t>upload</a:t>
            </a:r>
            <a:r>
              <a:rPr lang="vi-VN" b="1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smtClean="0">
                <a:latin typeface="Arial" panose="020B0604020202020204" pitchFamily="34" charset="0"/>
                <a:cs typeface="Arial" panose="020B0604020202020204" pitchFamily="34" charset="0"/>
              </a:rPr>
              <a:t>&amp;</a:t>
            </a:r>
            <a:r>
              <a:rPr lang="vi-VN" b="1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smtClean="0">
                <a:latin typeface="Arial" panose="020B0604020202020204" pitchFamily="34" charset="0"/>
                <a:cs typeface="Arial" panose="020B0604020202020204" pitchFamily="34" charset="0"/>
              </a:rPr>
              <a:t>download </a:t>
            </a: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the datasheet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36178" y="310358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7301" y="1026059"/>
            <a:ext cx="7954485" cy="525853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Rounded Rectangular Callout 11"/>
          <p:cNvSpPr/>
          <p:nvPr/>
        </p:nvSpPr>
        <p:spPr>
          <a:xfrm>
            <a:off x="3699161" y="2073896"/>
            <a:ext cx="1856512" cy="369424"/>
          </a:xfrm>
          <a:prstGeom prst="wedgeRoundRectCallout">
            <a:avLst>
              <a:gd name="adj1" fmla="val -16328"/>
              <a:gd name="adj2" fmla="val 15625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vi-VN" smtClean="0">
                <a:solidFill>
                  <a:schemeClr val="bg1"/>
                </a:solidFill>
              </a:rPr>
              <a:t>7. Nhà sản xuất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Rounded Rectangular Callout 12"/>
          <p:cNvSpPr/>
          <p:nvPr/>
        </p:nvSpPr>
        <p:spPr>
          <a:xfrm>
            <a:off x="4378030" y="3333319"/>
            <a:ext cx="3588333" cy="369424"/>
          </a:xfrm>
          <a:prstGeom prst="wedgeRoundRectCallout">
            <a:avLst>
              <a:gd name="adj1" fmla="val -16328"/>
              <a:gd name="adj2" fmla="val 15625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vi-VN" smtClean="0">
                <a:solidFill>
                  <a:schemeClr val="bg1"/>
                </a:solidFill>
              </a:rPr>
              <a:t>8. Check thông tin nhà sản xuất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4" name="圓角矩形 6"/>
          <p:cNvSpPr>
            <a:spLocks noChangeArrowheads="1"/>
          </p:cNvSpPr>
          <p:nvPr/>
        </p:nvSpPr>
        <p:spPr bwMode="auto">
          <a:xfrm>
            <a:off x="2378216" y="4060639"/>
            <a:ext cx="6557962" cy="431800"/>
          </a:xfrm>
          <a:prstGeom prst="roundRect">
            <a:avLst>
              <a:gd name="adj" fmla="val 16667"/>
            </a:avLst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rgbClr val="66CCFF"/>
              </a:buClr>
              <a:buBlip>
                <a:blip r:embed="rId3"/>
              </a:buBlip>
              <a:defRPr sz="3600" b="1">
                <a:solidFill>
                  <a:schemeClr val="accent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4"/>
              </a:buBlip>
              <a:defRPr sz="2800" b="1">
                <a:solidFill>
                  <a:schemeClr val="accent2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標楷體" panose="03000509000000000000" pitchFamily="65" charset="-120"/>
              </a:defRPr>
            </a:lvl9pPr>
          </a:lstStyle>
          <a:p>
            <a:pPr eaLnBrk="1" hangingPunct="1">
              <a:lnSpc>
                <a:spcPct val="125000"/>
              </a:lnSpc>
            </a:pPr>
            <a:endParaRPr lang="zh-TW" altLang="en-US" sz="2400"/>
          </a:p>
        </p:txBody>
      </p:sp>
    </p:spTree>
    <p:extLst>
      <p:ext uri="{BB962C8B-B14F-4D97-AF65-F5344CB8AC3E}">
        <p14:creationId xmlns:p14="http://schemas.microsoft.com/office/powerpoint/2010/main" val="2486391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1782" y="346364"/>
            <a:ext cx="4760153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How to </a:t>
            </a:r>
            <a:r>
              <a:rPr lang="en-US" b="1" smtClean="0">
                <a:latin typeface="Arial" panose="020B0604020202020204" pitchFamily="34" charset="0"/>
                <a:cs typeface="Arial" panose="020B0604020202020204" pitchFamily="34" charset="0"/>
              </a:rPr>
              <a:t>upload</a:t>
            </a:r>
            <a:r>
              <a:rPr lang="vi-VN" b="1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smtClean="0">
                <a:latin typeface="Arial" panose="020B0604020202020204" pitchFamily="34" charset="0"/>
                <a:cs typeface="Arial" panose="020B0604020202020204" pitchFamily="34" charset="0"/>
              </a:rPr>
              <a:t>&amp;</a:t>
            </a:r>
            <a:r>
              <a:rPr lang="vi-VN" b="1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smtClean="0">
                <a:latin typeface="Arial" panose="020B0604020202020204" pitchFamily="34" charset="0"/>
                <a:cs typeface="Arial" panose="020B0604020202020204" pitchFamily="34" charset="0"/>
              </a:rPr>
              <a:t>download </a:t>
            </a: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the datasheet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36178" y="310358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>
              <a:solidFill>
                <a:srgbClr val="FF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7301" y="1089781"/>
            <a:ext cx="7954485" cy="529454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Rounded Rectangular Callout 4"/>
          <p:cNvSpPr/>
          <p:nvPr/>
        </p:nvSpPr>
        <p:spPr>
          <a:xfrm>
            <a:off x="5569527" y="1967345"/>
            <a:ext cx="1814945" cy="612648"/>
          </a:xfrm>
          <a:prstGeom prst="wedgeRoundRectCallout">
            <a:avLst>
              <a:gd name="adj1" fmla="val -54166"/>
              <a:gd name="adj2" fmla="val 7833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mtClean="0"/>
              <a:t>9. Check nơi sử dụng</a:t>
            </a:r>
            <a:endParaRPr lang="en-US"/>
          </a:p>
        </p:txBody>
      </p:sp>
      <p:sp>
        <p:nvSpPr>
          <p:cNvPr id="6" name="Rounded Rectangular Callout 5"/>
          <p:cNvSpPr/>
          <p:nvPr/>
        </p:nvSpPr>
        <p:spPr>
          <a:xfrm>
            <a:off x="3532908" y="3737051"/>
            <a:ext cx="1856509" cy="374073"/>
          </a:xfrm>
          <a:prstGeom prst="wedgeRoundRectCallout">
            <a:avLst>
              <a:gd name="adj1" fmla="val -55681"/>
              <a:gd name="adj2" fmla="val 10324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mtClean="0"/>
              <a:t>10.Số mặt hàng</a:t>
            </a:r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2646218" y="4336473"/>
            <a:ext cx="928255" cy="277091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803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1782" y="346364"/>
            <a:ext cx="4833895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How to </a:t>
            </a:r>
            <a:r>
              <a:rPr lang="en-US" b="1" smtClean="0">
                <a:latin typeface="Arial" panose="020B0604020202020204" pitchFamily="34" charset="0"/>
                <a:cs typeface="Arial" panose="020B0604020202020204" pitchFamily="34" charset="0"/>
              </a:rPr>
              <a:t>upload</a:t>
            </a:r>
            <a:r>
              <a:rPr lang="vi-VN" b="1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smtClean="0">
                <a:latin typeface="Arial" panose="020B0604020202020204" pitchFamily="34" charset="0"/>
                <a:cs typeface="Arial" panose="020B0604020202020204" pitchFamily="34" charset="0"/>
              </a:rPr>
              <a:t>&amp;</a:t>
            </a:r>
            <a:r>
              <a:rPr lang="vi-VN" b="1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smtClean="0">
                <a:latin typeface="Arial" panose="020B0604020202020204" pitchFamily="34" charset="0"/>
                <a:cs typeface="Arial" panose="020B0604020202020204" pitchFamily="34" charset="0"/>
              </a:rPr>
              <a:t>download </a:t>
            </a:r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the datasheet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36178" y="310358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7301" y="1020512"/>
            <a:ext cx="7954484" cy="529454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Rounded Rectangular Callout 8"/>
          <p:cNvSpPr/>
          <p:nvPr/>
        </p:nvSpPr>
        <p:spPr>
          <a:xfrm>
            <a:off x="6123709" y="1676400"/>
            <a:ext cx="2299854" cy="637309"/>
          </a:xfrm>
          <a:prstGeom prst="wedgeRoundRectCallout">
            <a:avLst>
              <a:gd name="adj1" fmla="val -41886"/>
              <a:gd name="adj2" fmla="val 11250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mtClean="0"/>
              <a:t>11. Điều hướng sản phẩm</a:t>
            </a:r>
            <a:endParaRPr lang="en-US"/>
          </a:p>
        </p:txBody>
      </p:sp>
      <p:sp>
        <p:nvSpPr>
          <p:cNvPr id="10" name="Rounded Rectangular Callout 9"/>
          <p:cNvSpPr/>
          <p:nvPr/>
        </p:nvSpPr>
        <p:spPr>
          <a:xfrm>
            <a:off x="2355273" y="2826327"/>
            <a:ext cx="1648691" cy="346364"/>
          </a:xfrm>
          <a:prstGeom prst="wedgeRoundRectCallout">
            <a:avLst>
              <a:gd name="adj1" fmla="val -22514"/>
              <a:gd name="adj2" fmla="val 16250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mtClean="0"/>
              <a:t>12. Tải - Xóa</a:t>
            </a:r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2257301" y="3519055"/>
            <a:ext cx="1400299" cy="36021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ular Callout 11"/>
          <p:cNvSpPr/>
          <p:nvPr/>
        </p:nvSpPr>
        <p:spPr>
          <a:xfrm>
            <a:off x="4128652" y="4113489"/>
            <a:ext cx="2313711" cy="401782"/>
          </a:xfrm>
          <a:prstGeom prst="wedgeRoundRectCallout">
            <a:avLst>
              <a:gd name="adj1" fmla="val -55241"/>
              <a:gd name="adj2" fmla="val -14439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mtClean="0"/>
              <a:t>13.Chọn danh sách</a:t>
            </a:r>
            <a:endParaRPr lang="en-US"/>
          </a:p>
        </p:txBody>
      </p:sp>
      <p:sp>
        <p:nvSpPr>
          <p:cNvPr id="13" name="Rounded Rectangular Callout 12"/>
          <p:cNvSpPr/>
          <p:nvPr/>
        </p:nvSpPr>
        <p:spPr>
          <a:xfrm>
            <a:off x="2396341" y="4793035"/>
            <a:ext cx="1925287" cy="637309"/>
          </a:xfrm>
          <a:prstGeom prst="wedgeRoundRectCallout">
            <a:avLst>
              <a:gd name="adj1" fmla="val -44068"/>
              <a:gd name="adj2" fmla="val -13750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mtClean="0"/>
              <a:t>Click để chọn hoặc xóa</a:t>
            </a:r>
            <a:endParaRPr lang="en-US"/>
          </a:p>
        </p:txBody>
      </p:sp>
      <p:sp>
        <p:nvSpPr>
          <p:cNvPr id="14" name="Rounded Rectangle 13"/>
          <p:cNvSpPr/>
          <p:nvPr/>
        </p:nvSpPr>
        <p:spPr>
          <a:xfrm>
            <a:off x="2257301" y="3906983"/>
            <a:ext cx="278081" cy="30481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915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1782" y="346364"/>
            <a:ext cx="4199715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How to check the </a:t>
            </a:r>
            <a:r>
              <a:rPr lang="vi-VN" b="1" smtClean="0">
                <a:latin typeface="Arial" panose="020B0604020202020204" pitchFamily="34" charset="0"/>
                <a:cs typeface="Arial" panose="020B0604020202020204" pitchFamily="34" charset="0"/>
              </a:rPr>
              <a:t>ECN</a:t>
            </a:r>
            <a:r>
              <a:rPr lang="en-US" b="1" smtClean="0">
                <a:latin typeface="Arial" panose="020B0604020202020204" pitchFamily="34" charset="0"/>
                <a:cs typeface="Arial" panose="020B0604020202020204" pitchFamily="34" charset="0"/>
              </a:rPr>
              <a:t> Agile(Smart)</a:t>
            </a:r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936178" y="310358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760" y="931492"/>
            <a:ext cx="8649418" cy="532579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Rounded Rectangular Callout 10"/>
          <p:cNvSpPr/>
          <p:nvPr/>
        </p:nvSpPr>
        <p:spPr>
          <a:xfrm>
            <a:off x="8922211" y="1567061"/>
            <a:ext cx="1392383" cy="408709"/>
          </a:xfrm>
          <a:prstGeom prst="wedgeRoundRectCallout">
            <a:avLst>
              <a:gd name="adj1" fmla="val -46186"/>
              <a:gd name="adj2" fmla="val -15636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mtClean="0"/>
              <a:t>1. </a:t>
            </a:r>
            <a:r>
              <a:rPr lang="en-US" smtClean="0"/>
              <a:t>Search </a:t>
            </a: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802194" y="2654710"/>
            <a:ext cx="1135625" cy="360258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419698" y="1858297"/>
            <a:ext cx="3290818" cy="55578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mtClean="0">
                <a:solidFill>
                  <a:schemeClr val="tx1"/>
                </a:solidFill>
              </a:rPr>
              <a:t>Các </a:t>
            </a:r>
            <a:r>
              <a:rPr lang="vi-VN">
                <a:solidFill>
                  <a:schemeClr val="tx1"/>
                </a:solidFill>
              </a:rPr>
              <a:t>mã ECN, DEV, DOC</a:t>
            </a:r>
            <a:r>
              <a:rPr lang="vi-VN" smtClean="0">
                <a:solidFill>
                  <a:schemeClr val="tx1"/>
                </a:solidFill>
              </a:rPr>
              <a:t>,...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8" name="Elbow Connector 17"/>
          <p:cNvCxnSpPr>
            <a:stCxn id="9" idx="2"/>
            <a:endCxn id="8" idx="0"/>
          </p:cNvCxnSpPr>
          <p:nvPr/>
        </p:nvCxnSpPr>
        <p:spPr>
          <a:xfrm rot="5400000">
            <a:off x="4097241" y="1686843"/>
            <a:ext cx="240633" cy="1695100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033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8936178" y="310358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>
              <a:solidFill>
                <a:srgbClr val="FF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760" y="931492"/>
            <a:ext cx="8649418" cy="532579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Rectangle 2"/>
          <p:cNvSpPr/>
          <p:nvPr/>
        </p:nvSpPr>
        <p:spPr>
          <a:xfrm>
            <a:off x="2787445" y="5692877"/>
            <a:ext cx="1032387" cy="2949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3819832" y="4547418"/>
            <a:ext cx="1740310" cy="48178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mtClean="0">
                <a:solidFill>
                  <a:schemeClr val="tx1"/>
                </a:solidFill>
              </a:rPr>
              <a:t>Lựa chọn ECN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6" name="Elbow Connector 5"/>
          <p:cNvCxnSpPr/>
          <p:nvPr/>
        </p:nvCxnSpPr>
        <p:spPr>
          <a:xfrm rot="10800000" flipV="1">
            <a:off x="3819833" y="5043947"/>
            <a:ext cx="855407" cy="796413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01782" y="346364"/>
            <a:ext cx="4996128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How to check the </a:t>
            </a:r>
            <a:r>
              <a:rPr lang="vi-VN" b="1" smtClean="0">
                <a:latin typeface="Arial" panose="020B0604020202020204" pitchFamily="34" charset="0"/>
                <a:cs typeface="Arial" panose="020B0604020202020204" pitchFamily="34" charset="0"/>
              </a:rPr>
              <a:t>ECN</a:t>
            </a:r>
            <a:r>
              <a:rPr lang="en-US" b="1" smtClean="0">
                <a:latin typeface="Arial" panose="020B0604020202020204" pitchFamily="34" charset="0"/>
                <a:cs typeface="Arial" panose="020B0604020202020204" pitchFamily="34" charset="0"/>
              </a:rPr>
              <a:t> Agile(</a:t>
            </a:r>
            <a:r>
              <a:rPr lang="vi-VN" b="1" smtClean="0">
                <a:latin typeface="Arial" panose="020B0604020202020204" pitchFamily="34" charset="0"/>
                <a:cs typeface="Arial" panose="020B0604020202020204" pitchFamily="34" charset="0"/>
              </a:rPr>
              <a:t>FXV agile</a:t>
            </a:r>
            <a:r>
              <a:rPr lang="en-US" b="1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1466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8936178" y="693806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>
              <a:solidFill>
                <a:srgbClr val="FF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2162" y="1305694"/>
            <a:ext cx="8832764" cy="541956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Rounded Rectangular Callout 7"/>
          <p:cNvSpPr/>
          <p:nvPr/>
        </p:nvSpPr>
        <p:spPr>
          <a:xfrm>
            <a:off x="249779" y="3639426"/>
            <a:ext cx="1392383" cy="554181"/>
          </a:xfrm>
          <a:prstGeom prst="wedgeRoundRectCallout">
            <a:avLst>
              <a:gd name="adj1" fmla="val 57617"/>
              <a:gd name="adj2" fmla="val -17540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mtClean="0"/>
              <a:t>Trang bìa</a:t>
            </a:r>
            <a:endParaRPr lang="en-US"/>
          </a:p>
        </p:txBody>
      </p:sp>
      <p:sp>
        <p:nvSpPr>
          <p:cNvPr id="11" name="Rounded Rectangular Callout 10"/>
          <p:cNvSpPr/>
          <p:nvPr/>
        </p:nvSpPr>
        <p:spPr>
          <a:xfrm>
            <a:off x="1608890" y="4521960"/>
            <a:ext cx="1953490" cy="817418"/>
          </a:xfrm>
          <a:prstGeom prst="wedgeRoundRectCallout">
            <a:avLst>
              <a:gd name="adj1" fmla="val -3022"/>
              <a:gd name="adj2" fmla="val -24431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mtClean="0"/>
              <a:t>Các thư mục xem những thay đổi cụ thể</a:t>
            </a:r>
            <a:endParaRPr lang="en-US"/>
          </a:p>
        </p:txBody>
      </p:sp>
      <p:sp>
        <p:nvSpPr>
          <p:cNvPr id="12" name="Rounded Rectangular Callout 11"/>
          <p:cNvSpPr/>
          <p:nvPr/>
        </p:nvSpPr>
        <p:spPr>
          <a:xfrm>
            <a:off x="3508442" y="3085245"/>
            <a:ext cx="1683329" cy="554181"/>
          </a:xfrm>
          <a:prstGeom prst="wedgeRoundRectCallout">
            <a:avLst>
              <a:gd name="adj1" fmla="val -67388"/>
              <a:gd name="adj2" fmla="val -7145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mtClean="0"/>
              <a:t>Quy trình làm việc</a:t>
            </a:r>
            <a:endParaRPr lang="en-US"/>
          </a:p>
        </p:txBody>
      </p:sp>
      <p:sp>
        <p:nvSpPr>
          <p:cNvPr id="13" name="Rounded Rectangular Callout 12"/>
          <p:cNvSpPr/>
          <p:nvPr/>
        </p:nvSpPr>
        <p:spPr>
          <a:xfrm>
            <a:off x="4350107" y="1949331"/>
            <a:ext cx="1316182" cy="554181"/>
          </a:xfrm>
          <a:prstGeom prst="wedgeRoundRectCallout">
            <a:avLst>
              <a:gd name="adj1" fmla="val -59395"/>
              <a:gd name="adj2" fmla="val 11750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mtClean="0"/>
              <a:t>Tệp đính kèm</a:t>
            </a:r>
            <a:endParaRPr lang="en-US"/>
          </a:p>
        </p:txBody>
      </p:sp>
      <p:sp>
        <p:nvSpPr>
          <p:cNvPr id="4" name="Rounded Rectangle 3"/>
          <p:cNvSpPr/>
          <p:nvPr/>
        </p:nvSpPr>
        <p:spPr>
          <a:xfrm>
            <a:off x="4067908" y="4283063"/>
            <a:ext cx="3634154" cy="244219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58554" y="4521960"/>
            <a:ext cx="1512277" cy="5038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>
                <a:solidFill>
                  <a:schemeClr val="tx1"/>
                </a:solidFill>
              </a:rPr>
              <a:t>Sự thay đổi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9" name="Elbow Connector 8"/>
          <p:cNvCxnSpPr>
            <a:stCxn id="4" idx="3"/>
            <a:endCxn id="5" idx="1"/>
          </p:cNvCxnSpPr>
          <p:nvPr/>
        </p:nvCxnSpPr>
        <p:spPr>
          <a:xfrm flipV="1">
            <a:off x="7702062" y="4773873"/>
            <a:ext cx="656492" cy="730286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63898" y="852725"/>
            <a:ext cx="2218515" cy="36933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b="1" smtClean="0">
                <a:latin typeface="Arial" panose="020B0604020202020204" pitchFamily="34" charset="0"/>
                <a:cs typeface="Arial" panose="020B0604020202020204" pitchFamily="34" charset="0"/>
              </a:rPr>
              <a:t>Cover Page</a:t>
            </a:r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01782" y="346364"/>
            <a:ext cx="4996128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How to check the </a:t>
            </a:r>
            <a:r>
              <a:rPr lang="vi-VN" b="1" smtClean="0">
                <a:latin typeface="Arial" panose="020B0604020202020204" pitchFamily="34" charset="0"/>
                <a:cs typeface="Arial" panose="020B0604020202020204" pitchFamily="34" charset="0"/>
              </a:rPr>
              <a:t>ECN</a:t>
            </a:r>
            <a:r>
              <a:rPr lang="en-US" b="1" smtClean="0">
                <a:latin typeface="Arial" panose="020B0604020202020204" pitchFamily="34" charset="0"/>
                <a:cs typeface="Arial" panose="020B0604020202020204" pitchFamily="34" charset="0"/>
              </a:rPr>
              <a:t> Agile(</a:t>
            </a:r>
            <a:r>
              <a:rPr lang="vi-VN" b="1" smtClean="0">
                <a:latin typeface="Arial" panose="020B0604020202020204" pitchFamily="34" charset="0"/>
                <a:cs typeface="Arial" panose="020B0604020202020204" pitchFamily="34" charset="0"/>
              </a:rPr>
              <a:t>FXV agile</a:t>
            </a:r>
            <a:r>
              <a:rPr lang="en-US" b="1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7070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8936178" y="310358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3898" y="852725"/>
            <a:ext cx="2218515" cy="36933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b="1" smtClean="0">
                <a:latin typeface="Arial" panose="020B0604020202020204" pitchFamily="34" charset="0"/>
                <a:cs typeface="Arial" panose="020B0604020202020204" pitchFamily="34" charset="0"/>
              </a:rPr>
              <a:t>Affected items</a:t>
            </a:r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383" y="1359086"/>
            <a:ext cx="8789110" cy="539610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Rectangle 10"/>
          <p:cNvSpPr/>
          <p:nvPr/>
        </p:nvSpPr>
        <p:spPr>
          <a:xfrm>
            <a:off x="1797120" y="4062613"/>
            <a:ext cx="332425" cy="22122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62297" y="3553605"/>
            <a:ext cx="1511086" cy="5090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>
                <a:solidFill>
                  <a:schemeClr val="tx1"/>
                </a:solidFill>
              </a:rPr>
              <a:t>Click để xem chi tiết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3" name="Elbow Connector 12"/>
          <p:cNvCxnSpPr>
            <a:stCxn id="12" idx="2"/>
            <a:endCxn id="11" idx="1"/>
          </p:cNvCxnSpPr>
          <p:nvPr/>
        </p:nvCxnSpPr>
        <p:spPr>
          <a:xfrm rot="16200000" flipH="1">
            <a:off x="1352174" y="3728279"/>
            <a:ext cx="110613" cy="779280"/>
          </a:xfrm>
          <a:prstGeom prst="bentConnector2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2384173" y="6002214"/>
            <a:ext cx="6970841" cy="31652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728356" y="5056753"/>
            <a:ext cx="1731822" cy="5090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>
                <a:solidFill>
                  <a:schemeClr val="tx1"/>
                </a:solidFill>
              </a:rPr>
              <a:t>Đã được loại bỏ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7" name="Elbow Connector 16"/>
          <p:cNvCxnSpPr>
            <a:stCxn id="16" idx="2"/>
            <a:endCxn id="14" idx="3"/>
          </p:cNvCxnSpPr>
          <p:nvPr/>
        </p:nvCxnSpPr>
        <p:spPr>
          <a:xfrm rot="5400000">
            <a:off x="9177284" y="5743492"/>
            <a:ext cx="594715" cy="239253"/>
          </a:xfrm>
          <a:prstGeom prst="bentConnector2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7869672" y="3408562"/>
            <a:ext cx="1215713" cy="10534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7611617" y="2729839"/>
            <a:ext cx="1731822" cy="5090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mtClean="0">
                <a:solidFill>
                  <a:schemeClr val="tx1"/>
                </a:solidFill>
              </a:rPr>
              <a:t>Trước và sau thay đổi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6" name="Straight Arrow Connector 5"/>
          <p:cNvCxnSpPr>
            <a:stCxn id="24" idx="0"/>
            <a:endCxn id="18" idx="2"/>
          </p:cNvCxnSpPr>
          <p:nvPr/>
        </p:nvCxnSpPr>
        <p:spPr>
          <a:xfrm flipH="1" flipV="1">
            <a:off x="8477528" y="3238847"/>
            <a:ext cx="1" cy="16971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01782" y="346364"/>
            <a:ext cx="4996128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How to check the </a:t>
            </a:r>
            <a:r>
              <a:rPr lang="vi-VN" b="1" smtClean="0">
                <a:latin typeface="Arial" panose="020B0604020202020204" pitchFamily="34" charset="0"/>
                <a:cs typeface="Arial" panose="020B0604020202020204" pitchFamily="34" charset="0"/>
              </a:rPr>
              <a:t>ECN</a:t>
            </a:r>
            <a:r>
              <a:rPr lang="en-US" b="1" smtClean="0">
                <a:latin typeface="Arial" panose="020B0604020202020204" pitchFamily="34" charset="0"/>
                <a:cs typeface="Arial" panose="020B0604020202020204" pitchFamily="34" charset="0"/>
              </a:rPr>
              <a:t> Agile(</a:t>
            </a:r>
            <a:r>
              <a:rPr lang="vi-VN" b="1" smtClean="0">
                <a:latin typeface="Arial" panose="020B0604020202020204" pitchFamily="34" charset="0"/>
                <a:cs typeface="Arial" panose="020B0604020202020204" pitchFamily="34" charset="0"/>
              </a:rPr>
              <a:t>FXV agile</a:t>
            </a:r>
            <a:r>
              <a:rPr lang="en-US" b="1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7007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8936178" y="310358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3898" y="852725"/>
            <a:ext cx="2218515" cy="36933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b="1" smtClean="0">
                <a:latin typeface="Arial" panose="020B0604020202020204" pitchFamily="34" charset="0"/>
                <a:cs typeface="Arial" panose="020B0604020202020204" pitchFamily="34" charset="0"/>
              </a:rPr>
              <a:t>Affected items</a:t>
            </a:r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383" y="1323079"/>
            <a:ext cx="8824279" cy="536565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Rectangle 14"/>
          <p:cNvSpPr/>
          <p:nvPr/>
        </p:nvSpPr>
        <p:spPr>
          <a:xfrm>
            <a:off x="1773674" y="3886768"/>
            <a:ext cx="332425" cy="22122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238851" y="3377760"/>
            <a:ext cx="1332041" cy="5090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Click để xem chi tiết</a:t>
            </a:r>
          </a:p>
        </p:txBody>
      </p:sp>
      <p:cxnSp>
        <p:nvCxnSpPr>
          <p:cNvPr id="17" name="Elbow Connector 16"/>
          <p:cNvCxnSpPr>
            <a:stCxn id="16" idx="2"/>
            <a:endCxn id="15" idx="1"/>
          </p:cNvCxnSpPr>
          <p:nvPr/>
        </p:nvCxnSpPr>
        <p:spPr>
          <a:xfrm rot="16200000" flipH="1">
            <a:off x="1283967" y="3507673"/>
            <a:ext cx="110613" cy="868802"/>
          </a:xfrm>
          <a:prstGeom prst="bentConnector2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2360727" y="5462954"/>
            <a:ext cx="7474935" cy="122577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01782" y="346364"/>
            <a:ext cx="4199715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How to check the </a:t>
            </a:r>
            <a:r>
              <a:rPr lang="vi-VN" b="1" smtClean="0">
                <a:latin typeface="Arial" panose="020B0604020202020204" pitchFamily="34" charset="0"/>
                <a:cs typeface="Arial" panose="020B0604020202020204" pitchFamily="34" charset="0"/>
              </a:rPr>
              <a:t>ECN</a:t>
            </a:r>
            <a:r>
              <a:rPr lang="en-US" b="1" smtClean="0">
                <a:latin typeface="Arial" panose="020B0604020202020204" pitchFamily="34" charset="0"/>
                <a:cs typeface="Arial" panose="020B0604020202020204" pitchFamily="34" charset="0"/>
              </a:rPr>
              <a:t> Agil(Smart)</a:t>
            </a:r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869672" y="3408562"/>
            <a:ext cx="1215713" cy="10534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611617" y="2729839"/>
            <a:ext cx="1731822" cy="5090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mtClean="0">
                <a:solidFill>
                  <a:schemeClr val="tx1"/>
                </a:solidFill>
              </a:rPr>
              <a:t>Trước và sau thay đổi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3" name="Straight Arrow Connector 12"/>
          <p:cNvCxnSpPr>
            <a:stCxn id="11" idx="0"/>
            <a:endCxn id="12" idx="2"/>
          </p:cNvCxnSpPr>
          <p:nvPr/>
        </p:nvCxnSpPr>
        <p:spPr>
          <a:xfrm flipH="1" flipV="1">
            <a:off x="8477528" y="3238847"/>
            <a:ext cx="1" cy="16971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6946489" y="4645607"/>
            <a:ext cx="1257185" cy="5090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mtClean="0">
                <a:solidFill>
                  <a:schemeClr val="tx1"/>
                </a:solidFill>
              </a:rPr>
              <a:t>Thêm mới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9" name="Elbow Connector 18"/>
          <p:cNvCxnSpPr>
            <a:stCxn id="14" idx="2"/>
            <a:endCxn id="18" idx="0"/>
          </p:cNvCxnSpPr>
          <p:nvPr/>
        </p:nvCxnSpPr>
        <p:spPr>
          <a:xfrm rot="5400000">
            <a:off x="6682470" y="4570341"/>
            <a:ext cx="308339" cy="1476887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01782" y="346364"/>
            <a:ext cx="4996128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How to check the </a:t>
            </a:r>
            <a:r>
              <a:rPr lang="vi-VN" b="1" smtClean="0">
                <a:latin typeface="Arial" panose="020B0604020202020204" pitchFamily="34" charset="0"/>
                <a:cs typeface="Arial" panose="020B0604020202020204" pitchFamily="34" charset="0"/>
              </a:rPr>
              <a:t>ECN</a:t>
            </a:r>
            <a:r>
              <a:rPr lang="en-US" b="1" smtClean="0">
                <a:latin typeface="Arial" panose="020B0604020202020204" pitchFamily="34" charset="0"/>
                <a:cs typeface="Arial" panose="020B0604020202020204" pitchFamily="34" charset="0"/>
              </a:rPr>
              <a:t> Agile(</a:t>
            </a:r>
            <a:r>
              <a:rPr lang="vi-VN" b="1" smtClean="0">
                <a:latin typeface="Arial" panose="020B0604020202020204" pitchFamily="34" charset="0"/>
                <a:cs typeface="Arial" panose="020B0604020202020204" pitchFamily="34" charset="0"/>
              </a:rPr>
              <a:t>FXV agile</a:t>
            </a:r>
            <a:r>
              <a:rPr lang="en-US" b="1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2447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8936178" y="310358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3899" y="852725"/>
            <a:ext cx="1703456" cy="36933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smtClean="0">
                <a:latin typeface="Arial" panose="020B0604020202020204" pitchFamily="34" charset="0"/>
                <a:cs typeface="Arial" panose="020B0604020202020204" pitchFamily="34" charset="0"/>
              </a:rPr>
              <a:t>Workflow</a:t>
            </a:r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8763" y="1359086"/>
            <a:ext cx="8542713" cy="529872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Rectangle 4"/>
          <p:cNvSpPr/>
          <p:nvPr/>
        </p:nvSpPr>
        <p:spPr>
          <a:xfrm>
            <a:off x="2016369" y="2907323"/>
            <a:ext cx="8135816" cy="12192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426677" y="5193323"/>
            <a:ext cx="7069016" cy="1524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ular Callout 5"/>
          <p:cNvSpPr/>
          <p:nvPr/>
        </p:nvSpPr>
        <p:spPr>
          <a:xfrm>
            <a:off x="8124092" y="2063262"/>
            <a:ext cx="1652954" cy="679938"/>
          </a:xfrm>
          <a:prstGeom prst="wedgeRoundRectCallout">
            <a:avLst>
              <a:gd name="adj1" fmla="val -49911"/>
              <a:gd name="adj2" fmla="val 7112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Tiến trình công việc</a:t>
            </a:r>
            <a:endParaRPr lang="en-US"/>
          </a:p>
        </p:txBody>
      </p:sp>
      <p:sp>
        <p:nvSpPr>
          <p:cNvPr id="19" name="Rounded Rectangular Callout 18"/>
          <p:cNvSpPr/>
          <p:nvPr/>
        </p:nvSpPr>
        <p:spPr>
          <a:xfrm>
            <a:off x="9524999" y="4536830"/>
            <a:ext cx="1248509" cy="498773"/>
          </a:xfrm>
          <a:prstGeom prst="wedgeRoundRectCallout">
            <a:avLst>
              <a:gd name="adj1" fmla="val -49911"/>
              <a:gd name="adj2" fmla="val 9227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Approved</a:t>
            </a:r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401782" y="346364"/>
            <a:ext cx="4996128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How to check the </a:t>
            </a:r>
            <a:r>
              <a:rPr lang="vi-VN" b="1" smtClean="0">
                <a:latin typeface="Arial" panose="020B0604020202020204" pitchFamily="34" charset="0"/>
                <a:cs typeface="Arial" panose="020B0604020202020204" pitchFamily="34" charset="0"/>
              </a:rPr>
              <a:t>ECN</a:t>
            </a:r>
            <a:r>
              <a:rPr lang="en-US" b="1" smtClean="0">
                <a:latin typeface="Arial" panose="020B0604020202020204" pitchFamily="34" charset="0"/>
                <a:cs typeface="Arial" panose="020B0604020202020204" pitchFamily="34" charset="0"/>
              </a:rPr>
              <a:t> Agile(</a:t>
            </a:r>
            <a:r>
              <a:rPr lang="vi-VN" b="1" smtClean="0">
                <a:latin typeface="Arial" panose="020B0604020202020204" pitchFamily="34" charset="0"/>
                <a:cs typeface="Arial" panose="020B0604020202020204" pitchFamily="34" charset="0"/>
              </a:rPr>
              <a:t>FXV agile</a:t>
            </a:r>
            <a:r>
              <a:rPr lang="en-US" b="1" smtClean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3628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954148" y="833644"/>
            <a:ext cx="675165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smtClean="0"/>
              <a:t>LINK=&gt; </a:t>
            </a:r>
            <a:r>
              <a:rPr lang="en-US" sz="2800">
                <a:solidFill>
                  <a:schemeClr val="accent1">
                    <a:lumMod val="75000"/>
                  </a:schemeClr>
                </a:solidFill>
              </a:rPr>
              <a:t>https://agile935.mellanox.com/Agile/</a:t>
            </a:r>
            <a:endParaRPr lang="en-US" sz="28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31052" y="316373"/>
            <a:ext cx="2723823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vi-VN" b="1"/>
              <a:t>How to </a:t>
            </a:r>
            <a:r>
              <a:rPr lang="vi-VN" b="1" smtClean="0"/>
              <a:t>LOGIN NV agile</a:t>
            </a:r>
            <a:endParaRPr lang="vi-VN" b="1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052" y="1881956"/>
            <a:ext cx="10237378" cy="3609484"/>
          </a:xfrm>
          <a:prstGeom prst="rect">
            <a:avLst/>
          </a:prstGeom>
          <a:ln w="3175"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2482530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01782" y="346364"/>
            <a:ext cx="4199715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How to check the </a:t>
            </a:r>
            <a:r>
              <a:rPr lang="vi-VN" b="1" smtClean="0">
                <a:latin typeface="Arial" panose="020B0604020202020204" pitchFamily="34" charset="0"/>
                <a:cs typeface="Arial" panose="020B0604020202020204" pitchFamily="34" charset="0"/>
              </a:rPr>
              <a:t>ECN</a:t>
            </a:r>
            <a:r>
              <a:rPr lang="en-US" b="1" smtClean="0">
                <a:latin typeface="Arial" panose="020B0604020202020204" pitchFamily="34" charset="0"/>
                <a:cs typeface="Arial" panose="020B0604020202020204" pitchFamily="34" charset="0"/>
              </a:rPr>
              <a:t> Agile(Nvidia)</a:t>
            </a:r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6630" y="1134950"/>
            <a:ext cx="8994944" cy="548014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Rounded Rectangular Callout 4"/>
          <p:cNvSpPr/>
          <p:nvPr/>
        </p:nvSpPr>
        <p:spPr>
          <a:xfrm>
            <a:off x="8922211" y="1758785"/>
            <a:ext cx="1392383" cy="408709"/>
          </a:xfrm>
          <a:prstGeom prst="wedgeRoundRectCallout">
            <a:avLst>
              <a:gd name="adj1" fmla="val -46186"/>
              <a:gd name="adj2" fmla="val -15636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mtClean="0"/>
              <a:t>1. </a:t>
            </a:r>
            <a:r>
              <a:rPr lang="en-US" smtClean="0"/>
              <a:t>Search </a:t>
            </a: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802194" y="2846434"/>
            <a:ext cx="1135625" cy="360258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419698" y="2050021"/>
            <a:ext cx="3290818" cy="55578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mtClean="0">
                <a:solidFill>
                  <a:schemeClr val="tx1"/>
                </a:solidFill>
              </a:rPr>
              <a:t>Các </a:t>
            </a:r>
            <a:r>
              <a:rPr lang="vi-VN">
                <a:solidFill>
                  <a:schemeClr val="tx1"/>
                </a:solidFill>
              </a:rPr>
              <a:t>mã </a:t>
            </a:r>
            <a:r>
              <a:rPr lang="vi-VN" smtClean="0">
                <a:solidFill>
                  <a:schemeClr val="tx1"/>
                </a:solidFill>
              </a:rPr>
              <a:t>ECO, </a:t>
            </a:r>
            <a:r>
              <a:rPr lang="vi-VN">
                <a:solidFill>
                  <a:schemeClr val="tx1"/>
                </a:solidFill>
              </a:rPr>
              <a:t>DEV, DOC</a:t>
            </a:r>
            <a:r>
              <a:rPr lang="vi-VN" smtClean="0">
                <a:solidFill>
                  <a:schemeClr val="tx1"/>
                </a:solidFill>
              </a:rPr>
              <a:t>,...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8" name="Elbow Connector 7"/>
          <p:cNvCxnSpPr>
            <a:stCxn id="7" idx="2"/>
            <a:endCxn id="6" idx="0"/>
          </p:cNvCxnSpPr>
          <p:nvPr/>
        </p:nvCxnSpPr>
        <p:spPr>
          <a:xfrm rot="5400000">
            <a:off x="4097241" y="1878567"/>
            <a:ext cx="240633" cy="1695100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53578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01782" y="346364"/>
            <a:ext cx="4199715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How to check the </a:t>
            </a:r>
            <a:r>
              <a:rPr lang="vi-VN" b="1" smtClean="0">
                <a:latin typeface="Arial" panose="020B0604020202020204" pitchFamily="34" charset="0"/>
                <a:cs typeface="Arial" panose="020B0604020202020204" pitchFamily="34" charset="0"/>
              </a:rPr>
              <a:t>ECN</a:t>
            </a:r>
            <a:r>
              <a:rPr lang="en-US" b="1" smtClean="0">
                <a:latin typeface="Arial" panose="020B0604020202020204" pitchFamily="34" charset="0"/>
                <a:cs typeface="Arial" panose="020B0604020202020204" pitchFamily="34" charset="0"/>
              </a:rPr>
              <a:t> Agile(Nvidia)</a:t>
            </a:r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6630" y="1134950"/>
            <a:ext cx="8994944" cy="548014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2772696" y="4616244"/>
            <a:ext cx="1032387" cy="2064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3805083" y="3526831"/>
            <a:ext cx="1740310" cy="3372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mtClean="0">
                <a:solidFill>
                  <a:schemeClr val="tx1"/>
                </a:solidFill>
              </a:rPr>
              <a:t>Lựa chọn </a:t>
            </a:r>
            <a:r>
              <a:rPr lang="vi-VN" smtClean="0">
                <a:solidFill>
                  <a:schemeClr val="tx1"/>
                </a:solidFill>
              </a:rPr>
              <a:t>ECO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Elbow Connector 10"/>
          <p:cNvCxnSpPr/>
          <p:nvPr/>
        </p:nvCxnSpPr>
        <p:spPr>
          <a:xfrm rot="10800000" flipV="1">
            <a:off x="3805086" y="3878823"/>
            <a:ext cx="855407" cy="796413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30111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01782" y="346364"/>
            <a:ext cx="4199715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How to check the </a:t>
            </a:r>
            <a:r>
              <a:rPr lang="vi-VN" b="1" smtClean="0">
                <a:latin typeface="Arial" panose="020B0604020202020204" pitchFamily="34" charset="0"/>
                <a:cs typeface="Arial" panose="020B0604020202020204" pitchFamily="34" charset="0"/>
              </a:rPr>
              <a:t>ECN</a:t>
            </a:r>
            <a:r>
              <a:rPr lang="en-US" b="1" smtClean="0">
                <a:latin typeface="Arial" panose="020B0604020202020204" pitchFamily="34" charset="0"/>
                <a:cs typeface="Arial" panose="020B0604020202020204" pitchFamily="34" charset="0"/>
              </a:rPr>
              <a:t> Agile(Nvidia)</a:t>
            </a:r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2543" y="1359086"/>
            <a:ext cx="8621013" cy="528963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863899" y="852725"/>
            <a:ext cx="1997288" cy="36933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b="1" smtClean="0">
                <a:latin typeface="Arial" panose="020B0604020202020204" pitchFamily="34" charset="0"/>
                <a:cs typeface="Arial" panose="020B0604020202020204" pitchFamily="34" charset="0"/>
              </a:rPr>
              <a:t>Cover Page</a:t>
            </a:r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ounded Rectangular Callout 11"/>
          <p:cNvSpPr/>
          <p:nvPr/>
        </p:nvSpPr>
        <p:spPr>
          <a:xfrm>
            <a:off x="515247" y="3329712"/>
            <a:ext cx="1392383" cy="554181"/>
          </a:xfrm>
          <a:prstGeom prst="wedgeRoundRectCallout">
            <a:avLst>
              <a:gd name="adj1" fmla="val 57617"/>
              <a:gd name="adj2" fmla="val -17540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mtClean="0"/>
              <a:t>Trang bìa</a:t>
            </a:r>
            <a:endParaRPr lang="en-US"/>
          </a:p>
        </p:txBody>
      </p:sp>
      <p:sp>
        <p:nvSpPr>
          <p:cNvPr id="13" name="Rounded Rectangular Callout 12"/>
          <p:cNvSpPr/>
          <p:nvPr/>
        </p:nvSpPr>
        <p:spPr>
          <a:xfrm>
            <a:off x="1874358" y="4212246"/>
            <a:ext cx="1953490" cy="817418"/>
          </a:xfrm>
          <a:prstGeom prst="wedgeRoundRectCallout">
            <a:avLst>
              <a:gd name="adj1" fmla="val -3022"/>
              <a:gd name="adj2" fmla="val -24431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mtClean="0"/>
              <a:t>Các thư mục xem những thay đổi cụ thể</a:t>
            </a:r>
            <a:endParaRPr lang="en-US"/>
          </a:p>
        </p:txBody>
      </p:sp>
      <p:sp>
        <p:nvSpPr>
          <p:cNvPr id="14" name="Rounded Rectangular Callout 13"/>
          <p:cNvSpPr/>
          <p:nvPr/>
        </p:nvSpPr>
        <p:spPr>
          <a:xfrm>
            <a:off x="3773910" y="2775531"/>
            <a:ext cx="1683329" cy="554181"/>
          </a:xfrm>
          <a:prstGeom prst="wedgeRoundRectCallout">
            <a:avLst>
              <a:gd name="adj1" fmla="val -67388"/>
              <a:gd name="adj2" fmla="val -7145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mtClean="0"/>
              <a:t>Quy trình làm việc</a:t>
            </a:r>
            <a:endParaRPr lang="en-US"/>
          </a:p>
        </p:txBody>
      </p:sp>
      <p:sp>
        <p:nvSpPr>
          <p:cNvPr id="15" name="Rounded Rectangular Callout 14"/>
          <p:cNvSpPr/>
          <p:nvPr/>
        </p:nvSpPr>
        <p:spPr>
          <a:xfrm>
            <a:off x="5294001" y="1622441"/>
            <a:ext cx="1316182" cy="554181"/>
          </a:xfrm>
          <a:prstGeom prst="wedgeRoundRectCallout">
            <a:avLst>
              <a:gd name="adj1" fmla="val -59395"/>
              <a:gd name="adj2" fmla="val 11750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mtClean="0"/>
              <a:t>Tệp đính kèm</a:t>
            </a:r>
            <a:endParaRPr lang="en-US"/>
          </a:p>
        </p:txBody>
      </p:sp>
      <p:sp>
        <p:nvSpPr>
          <p:cNvPr id="16" name="Rounded Rectangle 15"/>
          <p:cNvSpPr/>
          <p:nvPr/>
        </p:nvSpPr>
        <p:spPr>
          <a:xfrm>
            <a:off x="4135015" y="3964139"/>
            <a:ext cx="3634154" cy="244219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8624022" y="4212246"/>
            <a:ext cx="1512277" cy="5038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>
                <a:solidFill>
                  <a:schemeClr val="tx1"/>
                </a:solidFill>
              </a:rPr>
              <a:t>Sự thay đổi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8" name="Elbow Connector 17"/>
          <p:cNvCxnSpPr>
            <a:stCxn id="16" idx="3"/>
            <a:endCxn id="17" idx="1"/>
          </p:cNvCxnSpPr>
          <p:nvPr/>
        </p:nvCxnSpPr>
        <p:spPr>
          <a:xfrm flipV="1">
            <a:off x="7769169" y="4464159"/>
            <a:ext cx="854853" cy="721076"/>
          </a:xfrm>
          <a:prstGeom prst="bentConnector3">
            <a:avLst>
              <a:gd name="adj1" fmla="val 5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8059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01782" y="346364"/>
            <a:ext cx="4199715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How to check the </a:t>
            </a:r>
            <a:r>
              <a:rPr lang="vi-VN" b="1" smtClean="0">
                <a:latin typeface="Arial" panose="020B0604020202020204" pitchFamily="34" charset="0"/>
                <a:cs typeface="Arial" panose="020B0604020202020204" pitchFamily="34" charset="0"/>
              </a:rPr>
              <a:t>ECN</a:t>
            </a:r>
            <a:r>
              <a:rPr lang="en-US" b="1" smtClean="0">
                <a:latin typeface="Arial" panose="020B0604020202020204" pitchFamily="34" charset="0"/>
                <a:cs typeface="Arial" panose="020B0604020202020204" pitchFamily="34" charset="0"/>
              </a:rPr>
              <a:t> Agile(Nvidia)</a:t>
            </a:r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3899" y="852725"/>
            <a:ext cx="2056282" cy="36933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b="1" smtClean="0">
                <a:latin typeface="Arial" panose="020B0604020202020204" pitchFamily="34" charset="0"/>
                <a:cs typeface="Arial" panose="020B0604020202020204" pitchFamily="34" charset="0"/>
              </a:rPr>
              <a:t>Affected items</a:t>
            </a:r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1851" y="1359086"/>
            <a:ext cx="8768497" cy="53404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9" name="Rectangle 18"/>
          <p:cNvSpPr/>
          <p:nvPr/>
        </p:nvSpPr>
        <p:spPr>
          <a:xfrm>
            <a:off x="1752876" y="3782401"/>
            <a:ext cx="332425" cy="22122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218053" y="3273393"/>
            <a:ext cx="1511086" cy="5090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>
                <a:solidFill>
                  <a:schemeClr val="tx1"/>
                </a:solidFill>
              </a:rPr>
              <a:t>Click để xem chi tiết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21" name="Elbow Connector 20"/>
          <p:cNvCxnSpPr>
            <a:stCxn id="20" idx="2"/>
            <a:endCxn id="19" idx="1"/>
          </p:cNvCxnSpPr>
          <p:nvPr/>
        </p:nvCxnSpPr>
        <p:spPr>
          <a:xfrm rot="16200000" flipH="1">
            <a:off x="1307930" y="3448067"/>
            <a:ext cx="110613" cy="779280"/>
          </a:xfrm>
          <a:prstGeom prst="bentConnector2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3350803" y="5751871"/>
            <a:ext cx="3728423" cy="26744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079226" y="4462038"/>
            <a:ext cx="1731822" cy="968138"/>
          </a:xfrm>
          <a:prstGeom prst="rect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mtClean="0">
                <a:solidFill>
                  <a:schemeClr val="tx1"/>
                </a:solidFill>
              </a:rPr>
              <a:t>Thay đổi fw</a:t>
            </a:r>
          </a:p>
          <a:p>
            <a:pPr algn="ctr"/>
            <a:r>
              <a:rPr lang="vi-VN" smtClean="0">
                <a:solidFill>
                  <a:schemeClr val="tx1"/>
                </a:solidFill>
              </a:rPr>
              <a:t>Đỏ- thêm mới</a:t>
            </a:r>
          </a:p>
          <a:p>
            <a:pPr algn="ctr"/>
            <a:r>
              <a:rPr lang="vi-VN" smtClean="0">
                <a:solidFill>
                  <a:schemeClr val="tx1"/>
                </a:solidFill>
              </a:rPr>
              <a:t>Gạch- loại bỏ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24" name="Elbow Connector 23"/>
          <p:cNvCxnSpPr>
            <a:stCxn id="23" idx="2"/>
            <a:endCxn id="22" idx="3"/>
          </p:cNvCxnSpPr>
          <p:nvPr/>
        </p:nvCxnSpPr>
        <p:spPr>
          <a:xfrm rot="5400000">
            <a:off x="7284474" y="5224929"/>
            <a:ext cx="455416" cy="865911"/>
          </a:xfrm>
          <a:prstGeom prst="bentConnector2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5480441" y="3408562"/>
            <a:ext cx="964601" cy="105347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5104402" y="2729839"/>
            <a:ext cx="1731822" cy="5090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mtClean="0">
                <a:solidFill>
                  <a:schemeClr val="tx1"/>
                </a:solidFill>
              </a:rPr>
              <a:t>Trước và sau thay đổi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27" name="Straight Arrow Connector 26"/>
          <p:cNvCxnSpPr>
            <a:stCxn id="25" idx="0"/>
            <a:endCxn id="26" idx="2"/>
          </p:cNvCxnSpPr>
          <p:nvPr/>
        </p:nvCxnSpPr>
        <p:spPr>
          <a:xfrm flipV="1">
            <a:off x="5962742" y="3238847"/>
            <a:ext cx="7571" cy="16971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29467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01782" y="346364"/>
            <a:ext cx="4199715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How to check the </a:t>
            </a:r>
            <a:r>
              <a:rPr lang="vi-VN" b="1" smtClean="0">
                <a:latin typeface="Arial" panose="020B0604020202020204" pitchFamily="34" charset="0"/>
                <a:cs typeface="Arial" panose="020B0604020202020204" pitchFamily="34" charset="0"/>
              </a:rPr>
              <a:t>ECN</a:t>
            </a:r>
            <a:r>
              <a:rPr lang="en-US" b="1" smtClean="0">
                <a:latin typeface="Arial" panose="020B0604020202020204" pitchFamily="34" charset="0"/>
                <a:cs typeface="Arial" panose="020B0604020202020204" pitchFamily="34" charset="0"/>
              </a:rPr>
              <a:t> Agile(Nvidia)</a:t>
            </a:r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3899" y="852725"/>
            <a:ext cx="2056282" cy="36933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b="1" smtClean="0">
                <a:latin typeface="Arial" panose="020B0604020202020204" pitchFamily="34" charset="0"/>
                <a:cs typeface="Arial" panose="020B0604020202020204" pitchFamily="34" charset="0"/>
              </a:rPr>
              <a:t>Affected items</a:t>
            </a:r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676" y="1477073"/>
            <a:ext cx="9138276" cy="21311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1676" y="4106031"/>
            <a:ext cx="9138276" cy="206401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Rectangle 15"/>
          <p:cNvSpPr/>
          <p:nvPr/>
        </p:nvSpPr>
        <p:spPr>
          <a:xfrm>
            <a:off x="1522014" y="5442151"/>
            <a:ext cx="3728423" cy="26744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250436" y="4748981"/>
            <a:ext cx="2433474" cy="371474"/>
          </a:xfrm>
          <a:prstGeom prst="rect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mtClean="0">
                <a:solidFill>
                  <a:schemeClr val="tx1"/>
                </a:solidFill>
              </a:rPr>
              <a:t>Thêm Revisions”AB”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8" name="Elbow Connector 17"/>
          <p:cNvCxnSpPr>
            <a:stCxn id="17" idx="2"/>
            <a:endCxn id="16" idx="3"/>
          </p:cNvCxnSpPr>
          <p:nvPr/>
        </p:nvCxnSpPr>
        <p:spPr>
          <a:xfrm rot="5400000">
            <a:off x="5631097" y="4739795"/>
            <a:ext cx="455417" cy="1216736"/>
          </a:xfrm>
          <a:prstGeom prst="bentConnector2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2279099" y="3197435"/>
            <a:ext cx="2587870" cy="25368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866969" y="2147840"/>
            <a:ext cx="2433474" cy="567272"/>
          </a:xfrm>
          <a:prstGeom prst="rect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mtClean="0">
                <a:solidFill>
                  <a:schemeClr val="tx1"/>
                </a:solidFill>
              </a:rPr>
              <a:t>Thêm Revisions”AB” và loại bỏ “AA”</a:t>
            </a:r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30" name="Elbow Connector 29"/>
          <p:cNvCxnSpPr>
            <a:stCxn id="29" idx="2"/>
            <a:endCxn id="28" idx="3"/>
          </p:cNvCxnSpPr>
          <p:nvPr/>
        </p:nvCxnSpPr>
        <p:spPr>
          <a:xfrm rot="5400000">
            <a:off x="5170755" y="2411327"/>
            <a:ext cx="609167" cy="1216737"/>
          </a:xfrm>
          <a:prstGeom prst="bentConnector2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66180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01782" y="346364"/>
            <a:ext cx="4199715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>
                <a:latin typeface="Arial" panose="020B0604020202020204" pitchFamily="34" charset="0"/>
                <a:cs typeface="Arial" panose="020B0604020202020204" pitchFamily="34" charset="0"/>
              </a:rPr>
              <a:t>How to check the </a:t>
            </a:r>
            <a:r>
              <a:rPr lang="vi-VN" b="1" smtClean="0">
                <a:latin typeface="Arial" panose="020B0604020202020204" pitchFamily="34" charset="0"/>
                <a:cs typeface="Arial" panose="020B0604020202020204" pitchFamily="34" charset="0"/>
              </a:rPr>
              <a:t>ECN</a:t>
            </a:r>
            <a:r>
              <a:rPr lang="en-US" b="1" smtClean="0">
                <a:latin typeface="Arial" panose="020B0604020202020204" pitchFamily="34" charset="0"/>
                <a:cs typeface="Arial" panose="020B0604020202020204" pitchFamily="34" charset="0"/>
              </a:rPr>
              <a:t> Agile(Nvidia)</a:t>
            </a:r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3899" y="852725"/>
            <a:ext cx="2056282" cy="369332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vi-VN" b="1" smtClean="0">
                <a:latin typeface="Arial" panose="020B0604020202020204" pitchFamily="34" charset="0"/>
                <a:cs typeface="Arial" panose="020B0604020202020204" pitchFamily="34" charset="0"/>
              </a:rPr>
              <a:t>Workflow</a:t>
            </a:r>
            <a:endParaRPr lang="en-US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437" y="1359086"/>
            <a:ext cx="8843157" cy="531072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Rectangle 12"/>
          <p:cNvSpPr/>
          <p:nvPr/>
        </p:nvSpPr>
        <p:spPr>
          <a:xfrm>
            <a:off x="2016369" y="2907323"/>
            <a:ext cx="7760677" cy="47926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2269739" y="5458794"/>
            <a:ext cx="7069016" cy="1524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ular Callout 14"/>
          <p:cNvSpPr/>
          <p:nvPr/>
        </p:nvSpPr>
        <p:spPr>
          <a:xfrm>
            <a:off x="8124092" y="2063262"/>
            <a:ext cx="1652954" cy="679938"/>
          </a:xfrm>
          <a:prstGeom prst="wedgeRoundRectCallout">
            <a:avLst>
              <a:gd name="adj1" fmla="val -49911"/>
              <a:gd name="adj2" fmla="val 7112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Tiến trình công việc</a:t>
            </a:r>
            <a:endParaRPr lang="en-US"/>
          </a:p>
        </p:txBody>
      </p:sp>
      <p:sp>
        <p:nvSpPr>
          <p:cNvPr id="19" name="Rounded Rectangular Callout 18"/>
          <p:cNvSpPr/>
          <p:nvPr/>
        </p:nvSpPr>
        <p:spPr>
          <a:xfrm>
            <a:off x="9368061" y="4802301"/>
            <a:ext cx="1248509" cy="498773"/>
          </a:xfrm>
          <a:prstGeom prst="wedgeRoundRectCallout">
            <a:avLst>
              <a:gd name="adj1" fmla="val -49911"/>
              <a:gd name="adj2" fmla="val 9227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mtClean="0"/>
              <a:t>Approved</a:t>
            </a:r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1891197" y="4925240"/>
            <a:ext cx="4863564" cy="14820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ular Callout 20"/>
          <p:cNvSpPr/>
          <p:nvPr/>
        </p:nvSpPr>
        <p:spPr>
          <a:xfrm>
            <a:off x="6334810" y="4187710"/>
            <a:ext cx="1789282" cy="498773"/>
          </a:xfrm>
          <a:prstGeom prst="wedgeRoundRectCallout">
            <a:avLst>
              <a:gd name="adj1" fmla="val -49911"/>
              <a:gd name="adj2" fmla="val 9227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mtClean="0"/>
              <a:t>Chờ Released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981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496</TotalTime>
  <Words>551</Words>
  <Application>Microsoft Office PowerPoint</Application>
  <PresentationFormat>Widescreen</PresentationFormat>
  <Paragraphs>125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等线</vt:lpstr>
      <vt:lpstr>新細明體</vt:lpstr>
      <vt:lpstr>標楷體</vt:lpstr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阮芳唯</dc:creator>
  <cp:lastModifiedBy>阮芳唯</cp:lastModifiedBy>
  <cp:revision>36</cp:revision>
  <dcterms:created xsi:type="dcterms:W3CDTF">2024-05-30T03:27:34Z</dcterms:created>
  <dcterms:modified xsi:type="dcterms:W3CDTF">2024-09-20T10:41:29Z</dcterms:modified>
</cp:coreProperties>
</file>